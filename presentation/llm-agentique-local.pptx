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b8de86b6-0e74-8063-9ae3-08f761b7b67f}">
          <p14:sldIdLst>
            <p14:sldId id="256"/>
            <p14:sldId id="257"/>
            <p14:sldId id="258"/>
          </p14:sldIdLst>
        </p14:section>
        <p14:section name="Acte 1 — Comprendre" id="{5d948b62-8c3c-3bfd-c34d-f3b2fd0e5e3f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Acte 2 — Agir" id="{6c9bc8c0-a3c1-88f9-c770-a1ba46e222ae}">
          <p14:sldIdLst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Acte 3 — Étendre" id="{c19f1bdd-7aed-8b57-2e59-a6060f0bbb57}">
          <p14:sldIdLst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e393df2c-c51d-4db8-f4cb-1fd662a1dfdb}">
          <p14:sldIdLst>
            <p14:sldId id="282"/>
            <p14:sldId id="283"/>
            <p14:sldId id="284"/>
            <p14:sldId id="28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 = 0,5 (sûr)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Lbls>
            <c:numFmt formatCode="0.#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4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saute</c:v>
                  </c:pt>
                  <c:pt idx="1">
                    <c:v>dort</c:v>
                  </c:pt>
                  <c:pt idx="2">
                    <c:v>chante</c:v>
                  </c:pt>
                  <c:pt idx="3">
                    <c:v>votate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78</c:v>
                </c:pt>
                <c:pt idx="1">
                  <c:v>15</c:v>
                </c:pt>
                <c:pt idx="2">
                  <c:v>5.5</c:v>
                </c:pt>
                <c:pt idx="3">
                  <c:v>0.5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 = 2,0 (créatif)</c:v>
                </c:pt>
              </c:strCache>
            </c:strRef>
          </c:tx>
          <c:spPr>
            <a:solidFill>
              <a:srgbClr val="02C39A"/>
            </a:solidFill>
            <a:effectLst/>
          </c:spPr>
          <c:invertIfNegative val="0"/>
          <c:dLbls>
            <c:numFmt formatCode="0.#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4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saute</c:v>
                  </c:pt>
                  <c:pt idx="1">
                    <c:v>dort</c:v>
                  </c:pt>
                  <c:pt idx="2">
                    <c:v>chante</c:v>
                  </c:pt>
                  <c:pt idx="3">
                    <c:v>votate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34</c:v>
                </c:pt>
                <c:pt idx="1">
                  <c:v>28</c:v>
                </c:pt>
                <c:pt idx="2">
                  <c:v>20</c:v>
                </c:pt>
                <c:pt idx="3">
                  <c:v>12</c:v>
                </c:pt>
              </c:numCache>
            </c:numRef>
          </c:val>
        </c:ser>
        <c:dLbls>
          <c:numFmt formatCode="0.#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B24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243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0"/>
        </c:scaling>
        <c:delete val="0"/>
        <c:axPos val="l"/>
        <c:majorGridlines>
          <c:spPr>
            <a:ln w="12700" cap="flat">
              <a:solidFill>
                <a:srgbClr val="D9E2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8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B2437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Taille du fichier modèle 8B</c:v>
                </c:pt>
              </c:strCache>
            </c:strRef>
          </c:tx>
          <c:spPr>
            <a:solidFill>
              <a:srgbClr val="5A6B85"/>
            </a:solidFill>
            <a:effectLst/>
          </c:spPr>
          <c:invertIfNegative val="0"/>
          <c:dLbls>
            <c:numFmt formatCode="0.0&quot; Go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7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A6B8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A6B8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2C39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A6B85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FP16 (brut)</c:v>
                  </c:pt>
                  <c:pt idx="1">
                    <c:v>Q8_0</c:v>
                  </c:pt>
                  <c:pt idx="2">
                    <c:v>Q5_K_M (le nôtre)</c:v>
                  </c:pt>
                  <c:pt idx="3">
                    <c:v>Q4_K_M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16</c:v>
                </c:pt>
                <c:pt idx="1">
                  <c:v>8.6</c:v>
                </c:pt>
                <c:pt idx="2">
                  <c:v>6</c:v>
                </c:pt>
                <c:pt idx="3">
                  <c:v>4.8</c:v>
                </c:pt>
              </c:numCache>
            </c:numRef>
          </c:val>
        </c:ser>
        <c:dLbls>
          <c:numFmt formatCode="0.0&quot; Go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B2437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9E2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8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Accueil. Annoncer le cadre : 1 h, questions pendant les lives ou en fin. Toutes les démos du jour tournent sur du matériel local — on le prouvera à chaque acte.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 (2 min). Sonder la salle pour calibrer le vocabulaire de la suite. Promettre : à la fin, la boîte est ouverte et tout était local.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Programme (1 min). Insister sur l'alternance théorie/live : chaque acte se termine par une démo réelle sur le matériel de la salle.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: la théorie d'abord, quinze minutes, puis le premier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concept fondateur (3 min). Le diagramme : entrée → modèle → distribution → token choisi → re-boucle. Dire : « tout le reste de la présentation ne fait qu'exploiter cette phrase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Tokens (2 min). Montrer les morceaux : le modèle ne voit jamais un mot entier. Enchaîner : « le token, c'est aussi l'unité de la fenêtre de contexte, vue juste après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Paramètres (2 min). Démystifier les chiffres marketing. Le pont est posé : des nombres → moins de précision → CPU. La quantification arrive en fin d'acte.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Contexte (2 min). Le dessin « tiroirs » : tout ce qui est payé à chaque tour. Concept mis en banque : il ressort à l'acte 2 (budget de contexte) et au KV cache.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Sampling (2 min). « votate » n'existe pas — c'est le but : à température haute, un token absurde devient crédible. Le lien avec l'hallucination est fait pour la slide suivante.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Hallucinations (2 min). Pas moraliser : expliquer structurellement. La conclusion est la porte vers l'agentique : les tests et les outils sont la réponse outillée au problème probabilitaire.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Entraînement (2 min). Survol — pas de maths. Important : distinguer le modèle brut (complète) du modèle instruct (obéit), et situer ce qu'on télécharge.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Quantification (3 min). LE pont vers le local : c'est ce qui rend la suite possible. Valeur Q5 mesurée sur disque (6,0 Go), les autres approximatives pour un 8B. Annoncer le live : « on va en télécharger un, là, maintenant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1 (5-7 min). Script détaillé : presentation/SCENARIOS.md. Messages : un LLM se télécharge comme un paquet ; il tourne sur un CPU. Filet : captures HF + terminal si le réseau tombe.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: « ça discute — on l'a vu. Mais un chat ne développe rien. Ce qui manque : la boucle.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boucle (3 min). LE diagramme du talk — le dessiner du doigt à l'écran. Insister : le LLM ne change pas, c'est le montage autour qui fait un agent. Le critère mesurable (tests) prépare le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calling (2-3 min). Montrer le JSON : c'est exactement ce qui défilera au live 2. La mise en garde est honnête et crédibilise : les capacités de tool calling varient beaucoup entre modèles.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Contexte ressource rare (2-3 min). La barre : le budget réel d'un agent en pleine tâche. C'est LE conseil pratique de l'acte — les gens peuvent l'appliquer dès demain avec n'importe quel harnais.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KV cache (2 min). Payer la banque d'acte 1 : la fenêtre a un coût mémoire. Les deux stats sont mesurées sur NOTRE matériel (35 tok/s au benchmark API) — pas des chiffres brochure.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Branchement (2 min). Démystifier l'intégration : pas d'SDK maison, pas de compte — une URL. C'est LE slide « je peux faire pareil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2 (10-12 min). Le moment clé. Script détaillé dans SCENARIOS.md. Ne PAS révéler le bug avant le git diff final. Punchline méta : cette présentation elle-même a été écrite par un agent sur ce modèle local.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: l'agent sait lire, éditer, exécuter. Comment lui apprendre NOS façons de faire, sans re-entraîner quoi que ce soit 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Skills (2-3 min). Montrer le VRAI fichier de la démo. Le point qui claque pour des devs : c'est du markdown versionné, pas de la config propriétaire.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3 (5 min). Frappe en direct — si ça dérape, git checkout de la version committée (déjà faite, cf. repo). Vérifié : OpenCode détecte la skill sans redémarrage.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MCP (2 min, survol). L'analogie USB suffit pour une session d'une heure. Message : outiller un agent sur VOS systèmes est un problème résolu, pas une usine à gaz à réinventer.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Paysage (2 min). Ne pas faire la guerre des cloches : le critère qui compte pour CE public est la colonne locale. Statuts à revérifier la veille — l'écosystème bouge vite.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Frameworks (2 min). Dégonfler l'anxiété technique : on n'a PAS besoin de LangChain pour coder avec un agent. Distinguer construire un produit agentique vs développer avec un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Synthèse (2 min). Une minute par modèle. Si le public ne retient que ces trois phrases, le talk a réussi.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Punchline (1-2 min). Laisser le mot « RIEN » seul à l'écran. Rappel discret du hook d'ouverture : « ce que vous collez dans un chat cloud, aujourd'hui, n'est jamais sorti d'ici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Take-away (1-2 min). Le QR mène au repo public — LE cadeau. Insister : la démo est rejouable chez soi, bug compris.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Q&amp;A. Rester disponible pour prolonger les lives à la demande (« et si on essayait avec VOTRE projet ? »).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_TITRE">
    <p:bg>
      <p:bgPr>
        <a:solidFill>
          <a:srgbClr val="1B2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148840"/>
            <a:ext cx="1051560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4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_DIVISEUR">
    <p:bg>
      <p:bgPr>
        <a:solidFill>
          <a:srgbClr val="1B2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514600"/>
            <a:ext cx="10515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_CONTENU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_LIVE">
    <p:bg>
      <p:bgPr>
        <a:solidFill>
          <a:srgbClr val="1B2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554480"/>
            <a:ext cx="10515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17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LIVE · 1 HEURE · ZÉRO CLOUD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822960" y="214884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 &amp; développement agentique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Comprendre les modèles de bout en bout — et les faire tourner chez soi.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6035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m-max · octobre 2026 · un laptop, un serveur CPU, aucun cloud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5544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Vous appuyez sur Entrée.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822960" y="239572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 se passe-t-il, </a:t>
            </a:r>
            <a:pPr indent="0" marL="0">
              <a:buNone/>
            </a:pPr>
            <a:r>
              <a:rPr lang="en-US" sz="38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vraiment</a:t>
            </a:r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?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5204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utilisez un LLM tous les jours. Aujourd'hui, on ouvre la boîte.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822960" y="4480560"/>
            <a:ext cx="10515600" cy="1371600"/>
          </a:xfrm>
          <a:prstGeom prst="roundRect">
            <a:avLst>
              <a:gd name="adj" fmla="val 8000"/>
            </a:avLst>
          </a:prstGeom>
          <a:solidFill>
            <a:srgbClr val="1B2437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143000" y="470916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main levée :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code avec un assistant IA ? · Qui sait ce qu'est un token ? · Qui a déjà fait tourner un modèle chez soi ?</a:t>
            </a:r>
            <a:endParaRPr lang="en-US" sz="1600" dirty="0"/>
          </a:p>
        </p:txBody>
      </p:sp>
      <p:sp>
        <p:nvSpPr>
          <p:cNvPr id="8" name="Text 0"/>
          <p:cNvSpPr/>
          <p:nvPr>
            <p:ph idx="100" type="title" hasCustomPrompt="1"/>
          </p:nvPr>
        </p:nvSpPr>
        <p:spPr>
          <a:xfrm>
            <a:off x="822960" y="214884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4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programme : comprendre, agir, étendre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68680" y="17373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ACTE 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68680" y="21031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Comprendre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68680" y="2788920"/>
            <a:ext cx="2926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LLM, vraiment : tokens, contexte, sampling, quantification. Et on en télécharge un en direct.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70832" y="141732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690872" y="17373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ACTE 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690872" y="21031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Agir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4690872" y="2788920"/>
            <a:ext cx="2926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développement agentique : la boucle, les outils. Un agent corrige un vrai bug, branché sur un modèle local.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93024" y="141732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513064" y="17373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ACTE 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513064" y="21031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Étendre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8513064" y="2788920"/>
            <a:ext cx="2926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Skills, MCP, paysage des harnais. On écrit une skill en direct et on l'invoque.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57150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 et à chaque acte, une démonstration en direct. À la fin : tout ça tourne chez vous.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965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ACTE 1 · COMPRENDRE</a:t>
            </a:r>
            <a:endParaRPr lang="en-US" sz="15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822960" y="25146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Comprendre un LLM, vraiment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822960" y="4297680"/>
            <a:ext cx="201168" cy="201168"/>
          </a:xfrm>
          <a:prstGeom prst="ellipse">
            <a:avLst/>
          </a:prstGeom>
          <a:solidFill>
            <a:srgbClr val="02C39A"/>
          </a:solidFill>
          <a:ln w="15875">
            <a:solidFill>
              <a:srgbClr val="02C39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455371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Comprendre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240280" y="4297680"/>
            <a:ext cx="201168" cy="201168"/>
          </a:xfrm>
          <a:prstGeom prst="ellipse">
            <a:avLst/>
          </a:prstGeom>
          <a:solidFill>
            <a:srgbClr val="1B2437"/>
          </a:solidFill>
          <a:ln w="15875">
            <a:solidFill>
              <a:srgbClr val="9FB0C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920240" y="455371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Agir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0" y="4297680"/>
            <a:ext cx="201168" cy="201168"/>
          </a:xfrm>
          <a:prstGeom prst="ellipse">
            <a:avLst/>
          </a:prstGeom>
          <a:solidFill>
            <a:srgbClr val="1B2437"/>
          </a:solidFill>
          <a:ln w="15875">
            <a:solidFill>
              <a:srgbClr val="9FB0C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7560" y="455371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Étendre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LLM prédit le token suivant. C'est tout.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737360" cy="457200"/>
          </a:xfrm>
          <a:prstGeom prst="roundRect">
            <a:avLst>
              <a:gd name="adj" fmla="val 20000"/>
            </a:avLst>
          </a:prstGeom>
          <a:solidFill>
            <a:srgbClr val="EAF0F6"/>
          </a:solidFill>
          <a:ln w="12700">
            <a:solidFill>
              <a:srgbClr val="EAF0F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7373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Le chat noir »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331720" y="1965960"/>
            <a:ext cx="5486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2926080" y="1481328"/>
            <a:ext cx="2286000" cy="960120"/>
          </a:xfrm>
          <a:prstGeom prst="roundRect">
            <a:avLst>
              <a:gd name="adj" fmla="val 11429"/>
            </a:avLst>
          </a:prstGeom>
          <a:solidFill>
            <a:srgbClr val="1B2437"/>
          </a:solidFill>
          <a:ln/>
        </p:spPr>
      </p:sp>
      <p:sp>
        <p:nvSpPr>
          <p:cNvPr id="7" name="Text 5"/>
          <p:cNvSpPr/>
          <p:nvPr/>
        </p:nvSpPr>
        <p:spPr>
          <a:xfrm>
            <a:off x="2926080" y="1481328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8 000 000 000 poids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257800" y="1965960"/>
            <a:ext cx="5486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5852160" y="1234440"/>
            <a:ext cx="2834640" cy="1463040"/>
          </a:xfrm>
          <a:prstGeom prst="roundRect">
            <a:avLst>
              <a:gd name="adj" fmla="val 6250"/>
            </a:avLst>
          </a:prstGeom>
          <a:solidFill>
            <a:srgbClr val="EAF0F6"/>
          </a:solidFill>
          <a:ln/>
        </p:spPr>
      </p:sp>
      <p:sp>
        <p:nvSpPr>
          <p:cNvPr id="10" name="Shape 8"/>
          <p:cNvSpPr/>
          <p:nvPr/>
        </p:nvSpPr>
        <p:spPr>
          <a:xfrm>
            <a:off x="6035040" y="1371600"/>
            <a:ext cx="2468880" cy="457200"/>
          </a:xfrm>
          <a:prstGeom prst="roundRect">
            <a:avLst>
              <a:gd name="adj" fmla="val 20000"/>
            </a:avLst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035040" y="13716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saute  68 %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035040" y="1810512"/>
            <a:ext cx="246888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035040" y="181051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dort  19 %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035040" y="2249424"/>
            <a:ext cx="246888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35040" y="224942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chante  7 %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732520" y="1965960"/>
            <a:ext cx="5486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326880" y="173736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1B2437"/>
          </a:solidFill>
          <a:ln w="12700">
            <a:solidFill>
              <a:srgbClr val="1B243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26880" y="17373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saute »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48640" y="3063240"/>
            <a:ext cx="676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token choisi est ajouté à l'entrée, et le modèle recommence. Token après token. Il ne « sait » rien d'autre que prédire la suite la plus probable.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589520" y="3063240"/>
            <a:ext cx="4023360" cy="2743200"/>
          </a:xfrm>
          <a:prstGeom prst="roundRect">
            <a:avLst>
              <a:gd name="adj" fmla="val 4000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882128" y="3310128"/>
            <a:ext cx="34747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c'est important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Pas de base de connaissances : des probabilités apprises.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Une réponse = des milliers d'appels du même moteur.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Toute la suite de la session repose sur cette phrase.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token : la monnaie du modèle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Le développeur comprend » vu par le modèle :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88696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828800"/>
            <a:ext cx="886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4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ĠLe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636776" y="1828800"/>
            <a:ext cx="886968" cy="457200"/>
          </a:xfrm>
          <a:prstGeom prst="roundRect">
            <a:avLst>
              <a:gd name="adj" fmla="val 20000"/>
            </a:avLst>
          </a:prstGeom>
          <a:solidFill>
            <a:srgbClr val="EAF0F6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636776" y="1828800"/>
            <a:ext cx="886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4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Ġd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724912" y="1828800"/>
            <a:ext cx="88696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24912" y="1828800"/>
            <a:ext cx="886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4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éve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813048" y="1828800"/>
            <a:ext cx="758952" cy="457200"/>
          </a:xfrm>
          <a:prstGeom prst="roundRect">
            <a:avLst>
              <a:gd name="adj" fmla="val 20000"/>
            </a:avLst>
          </a:prstGeom>
          <a:solidFill>
            <a:srgbClr val="EAF0F6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13048" y="1828800"/>
            <a:ext cx="75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4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773168" y="1828800"/>
            <a:ext cx="1014984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73168" y="1828800"/>
            <a:ext cx="1014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4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peur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989320" y="182880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EAF0F6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89320" y="18288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4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Ġcom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333488" y="182880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33488" y="18288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4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prend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2697480"/>
            <a:ext cx="5577840" cy="3017520"/>
          </a:xfrm>
          <a:prstGeom prst="roundRect">
            <a:avLst>
              <a:gd name="adj" fmla="val 3636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41248" y="2944368"/>
            <a:ext cx="502920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ordres de grandeur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≈ 4 caractères = 1 token en anglais.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Le français coûte 20-30 % de tokens de plus.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« développeur » → « d » + « éve » + « lopeur » : le modèle ne voit pas des mots, des morceaux.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Facturation, fenêtre de contexte, lenteur : tout se compte en tokens.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400800" y="2697480"/>
            <a:ext cx="5212080" cy="3017520"/>
          </a:xfrm>
          <a:prstGeom prst="roundRect">
            <a:avLst>
              <a:gd name="adj" fmla="val 3636"/>
            </a:avLst>
          </a:prstGeom>
          <a:solidFill>
            <a:srgbClr val="1B2437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693408" y="2971800"/>
            <a:ext cx="4663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Chez vous aussi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petit modèle du live n'a pas de mot « français » : il a des morceaux de français, appris comme les autres. La langue n'est pas une option de compilation.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 8B paramètres », ça veut dire quoi 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8 000 000 000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nombres appris pendant l'entraînement — c'est tout ce qu'est le « cerveau »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3520440"/>
            <a:ext cx="5486400" cy="2377440"/>
          </a:xfrm>
          <a:prstGeom prst="roundRect">
            <a:avLst>
              <a:gd name="adj" fmla="val 4615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1248" y="374904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Chaque token qui traverse le modèle est multiplié contre ces nombres, couche après couche.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Le code du modèle est ouvert ; ce qui compte, ce sont les poids — de vrais fichiers, téléchargeables.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92240" y="1554480"/>
            <a:ext cx="5120640" cy="4343400"/>
          </a:xfrm>
          <a:prstGeom prst="roundRect">
            <a:avLst>
              <a:gd name="adj" fmla="val 2526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784848" y="1828800"/>
            <a:ext cx="45720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Conséquence directe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poids est un nombre, pas un circuit : il peut être calculé par un CPU. Avec moins de précision (quantification, juste après), un 8 milliards de poids tient sur un laptop.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8B = un modèle de « poche ». Les modèles frontieres en font 10 à 100 fois plus — là, il faut une salle de serveurs.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fenêtre de contexte : sa mémoire de travail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6400800" cy="448056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19050">
            <a:solidFill>
              <a:srgbClr val="1B243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600200"/>
            <a:ext cx="6035040" cy="502920"/>
          </a:xfrm>
          <a:prstGeom prst="rect">
            <a:avLst/>
          </a:prstGeom>
          <a:solidFill>
            <a:srgbClr val="1B2437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600200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système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" y="2212848"/>
            <a:ext cx="6035040" cy="6400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212848"/>
            <a:ext cx="5760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AGENTS.md / règles du projet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962656"/>
            <a:ext cx="6035040" cy="9144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2962656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Fichiers versés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31520" y="3986784"/>
            <a:ext cx="6035040" cy="132588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3986784"/>
            <a:ext cx="5760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Historique de la conversation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5422392"/>
            <a:ext cx="6035040" cy="50292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5422392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question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315200" y="1417320"/>
            <a:ext cx="4297680" cy="4480560"/>
          </a:xfrm>
          <a:prstGeom prst="roundRect">
            <a:avLst>
              <a:gd name="adj" fmla="val 2553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607808" y="1691640"/>
            <a:ext cx="37490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ça implique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Le modèle ne « retient » rien entre deux sessions : tout doit tenir dans la fenêtre.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Plus la conversation grossit, moins il reste de place pour le code.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Ordres de grandeur : 8k (2023) → 128k → 262k chez nous.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Le contexte est une ressource rare → acte 2.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température : un dé plus ou moins pipé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463040"/>
          <a:ext cx="658368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7498080" y="1463040"/>
            <a:ext cx="4114800" cy="4297680"/>
          </a:xfrm>
          <a:prstGeom prst="roundRect">
            <a:avLst>
              <a:gd name="adj" fmla="val 2667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5" name="Text 2"/>
          <p:cNvSpPr/>
          <p:nvPr/>
        </p:nvSpPr>
        <p:spPr>
          <a:xfrm>
            <a:off x="7790688" y="1737360"/>
            <a:ext cx="35661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Lire le graphique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t basse : le modèle écrase sa confiance sur un seul token. Répétable, ennuyeux, prévisible.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t haute : la distribution s'aplatit — « votate » devient possible.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t = 0 : purement déterministe (le même token à chaque fois).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à produire : température basse. Poésie : haute.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L'hallucination n'est pas un bug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86400" cy="3108960"/>
          </a:xfrm>
          <a:prstGeom prst="roundRect">
            <a:avLst>
              <a:gd name="adj" fmla="val 3529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41248" y="1691640"/>
            <a:ext cx="49377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le modèle fait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Prolonger le plausible. « API la plus probable après cette phrase » ≠ « API qui existe ».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263640" y="1417320"/>
            <a:ext cx="5486400" cy="3108960"/>
          </a:xfrm>
          <a:prstGeom prst="roundRect">
            <a:avLst>
              <a:gd name="adj" fmla="val 3529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556248" y="1691640"/>
            <a:ext cx="49377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qu'il n'a pas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mode « je vérifie ». Pas de base de faits à consulter, pas de signal de certitude fiable.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4800600"/>
            <a:ext cx="11201400" cy="1143000"/>
          </a:xfrm>
          <a:prstGeom prst="roundRect">
            <a:avLst>
              <a:gd name="adj" fmla="val 8000"/>
            </a:avLst>
          </a:prstGeom>
          <a:solidFill>
            <a:srgbClr val="1B2437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4800600"/>
            <a:ext cx="10607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D'où la doctrine 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ne demande pas au modèle d'être sûr, on lui donne de quoi vérifier — tests, compilateur, outils. C'est tout l'acte 2.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Comment on fabrique un LLM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520440" cy="3200400"/>
          </a:xfrm>
          <a:prstGeom prst="roundRect">
            <a:avLst>
              <a:gd name="adj" fmla="val 3429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22960" y="182880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Pré-training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22960" y="2331720"/>
            <a:ext cx="2971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billions de pages du web. Objectif unique : prédire le token suivant. Naît un modèle qui « parle », mais qui finit tout.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069080" y="3154680"/>
            <a:ext cx="301752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4370832" y="1554480"/>
            <a:ext cx="3520440" cy="3200400"/>
          </a:xfrm>
          <a:prstGeom prst="roundRect">
            <a:avLst>
              <a:gd name="adj" fmla="val 3429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645152" y="182880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SFT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645152" y="2331720"/>
            <a:ext cx="2971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sur conversations exemplaires : on lui apprend le format question → réponse, les outils, le ton.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891272" y="3154680"/>
            <a:ext cx="301752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8193024" y="1554480"/>
            <a:ext cx="3520440" cy="3200400"/>
          </a:xfrm>
          <a:prstGeom prst="roundRect">
            <a:avLst>
              <a:gd name="adj" fmla="val 3429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467344" y="182880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· Alignement (RLHF)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8467344" y="2331720"/>
            <a:ext cx="2971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humains comparent des réponses ; le modèle apprend à préférer ce qui est utile et honnête.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512064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modèle « instruct » que vous téléchargez a passé les trois étapes. Le pré-training coûte des millions ; les deux autres, des semaines. Vous, vous prenez le résultat.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quantification : 16 Go → 6 Go, presque la même tête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463040"/>
          <a:ext cx="64008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7315200" y="1463040"/>
            <a:ext cx="4297680" cy="4206240"/>
          </a:xfrm>
          <a:prstGeom prst="roundRect">
            <a:avLst>
              <a:gd name="adj" fmla="val 2609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5" name="Text 2"/>
          <p:cNvSpPr/>
          <p:nvPr/>
        </p:nvSpPr>
        <p:spPr>
          <a:xfrm>
            <a:off x="7607808" y="1737360"/>
            <a:ext cx="37490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triangle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Taille · Vitesse · Qualité : en réduire un paye les autres.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Q4-Q5 : la perte de qualité est faible pour un gain énorme en mémoire et vitesse CPU.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GGUF = le format de llama.cpp, avec les variantes de quantification alignées sur la RAM dispo.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Le Q5_K_M de la slide : 6,0 Go mesurés sur le disque du serveur.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777240"/>
            <a:ext cx="1234440" cy="475488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777240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822960" y="1554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Hugging Face &amp; llama.cpp, en direct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822960" y="2834640"/>
            <a:ext cx="402336" cy="40233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8346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71600" y="2798064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page du modèle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371600" y="3218688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huggingface.co/unsloth/LFM2.5-8B-A1B-GGUF : les fichiers GGUF par quantification, comme vu slide précédente.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" y="4069080"/>
            <a:ext cx="402336" cy="40233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4069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71600" y="4032504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hf download, en direct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371600" y="4453128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télécharge un petit modèle (~500 Mo) devant vous. Le temps de ma phrase.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309360" y="2834640"/>
            <a:ext cx="402336" cy="40233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4" name="Text 12"/>
          <p:cNvSpPr/>
          <p:nvPr/>
        </p:nvSpPr>
        <p:spPr>
          <a:xfrm>
            <a:off x="6309360" y="28346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858000" y="279806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llama-cli répond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858000" y="3218688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le CPU du laptop. Pas de clé API, pas de facture, pas de réseau — sauf pour le téléchargement.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309360" y="4206240"/>
            <a:ext cx="5029200" cy="1234440"/>
          </a:xfrm>
          <a:prstGeom prst="roundRect">
            <a:avLst>
              <a:gd name="adj" fmla="val 7407"/>
            </a:avLst>
          </a:prstGeom>
          <a:solidFill>
            <a:srgbClr val="101828"/>
          </a:solidFill>
          <a:ln/>
        </p:spPr>
      </p:sp>
      <p:sp>
        <p:nvSpPr>
          <p:cNvPr id="18" name="Text 16"/>
          <p:cNvSpPr/>
          <p:nvPr/>
        </p:nvSpPr>
        <p:spPr>
          <a:xfrm>
            <a:off x="6537960" y="4343400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hf download unsloth/LFM2.5-8B-A1B-GGUF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--include "...UD-Q5_K_M.gguf*"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--local-dir /models/LFM2.5-8B-A1B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22960" y="6035040"/>
            <a:ext cx="201168" cy="201168"/>
          </a:xfrm>
          <a:prstGeom prst="ellipse">
            <a:avLst/>
          </a:prstGeom>
          <a:solidFill>
            <a:srgbClr val="02C39A"/>
          </a:solidFill>
          <a:ln w="15875">
            <a:solidFill>
              <a:srgbClr val="02C39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629107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Comprendre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40280" y="6035040"/>
            <a:ext cx="201168" cy="201168"/>
          </a:xfrm>
          <a:prstGeom prst="ellipse">
            <a:avLst/>
          </a:prstGeom>
          <a:solidFill>
            <a:srgbClr val="1B2437"/>
          </a:solidFill>
          <a:ln w="15875">
            <a:solidFill>
              <a:srgbClr val="9FB0C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920240" y="629107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Agir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657600" y="6035040"/>
            <a:ext cx="201168" cy="201168"/>
          </a:xfrm>
          <a:prstGeom prst="ellipse">
            <a:avLst/>
          </a:prstGeom>
          <a:solidFill>
            <a:srgbClr val="1B2437"/>
          </a:solidFill>
          <a:ln w="15875">
            <a:solidFill>
              <a:srgbClr val="9FB0C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337560" y="629107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Étendre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965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ACTE 2 · AGIR</a:t>
            </a:r>
            <a:endParaRPr lang="en-US" sz="15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822960" y="25146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Développement agentique : les harnais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822960" y="4297680"/>
            <a:ext cx="201168" cy="201168"/>
          </a:xfrm>
          <a:prstGeom prst="ellipse">
            <a:avLst/>
          </a:prstGeom>
          <a:solidFill>
            <a:srgbClr val="1B2437"/>
          </a:solidFill>
          <a:ln w="15875">
            <a:solidFill>
              <a:srgbClr val="9FB0C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455371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Comprendre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240280" y="4297680"/>
            <a:ext cx="201168" cy="201168"/>
          </a:xfrm>
          <a:prstGeom prst="ellipse">
            <a:avLst/>
          </a:prstGeom>
          <a:solidFill>
            <a:srgbClr val="02C39A"/>
          </a:solidFill>
          <a:ln w="15875">
            <a:solidFill>
              <a:srgbClr val="02C39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920240" y="455371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Agir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0" y="4297680"/>
            <a:ext cx="201168" cy="201168"/>
          </a:xfrm>
          <a:prstGeom prst="ellipse">
            <a:avLst/>
          </a:prstGeom>
          <a:solidFill>
            <a:srgbClr val="1B2437"/>
          </a:solidFill>
          <a:ln w="15875">
            <a:solidFill>
              <a:srgbClr val="9FB0C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7560" y="455371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Étendre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 chat à l'agent : la boucle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2743200"/>
            <a:ext cx="2148840" cy="914400"/>
          </a:xfrm>
          <a:prstGeom prst="roundRect">
            <a:avLst>
              <a:gd name="adj" fmla="val 10000"/>
            </a:avLst>
          </a:prstGeom>
          <a:solidFill>
            <a:srgbClr val="EAF0F6"/>
          </a:solidFill>
          <a:ln w="12700">
            <a:solidFill>
              <a:srgbClr val="EAF0F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74320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rends les tests verts »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0" y="3200400"/>
            <a:ext cx="50292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3291840" y="2743200"/>
            <a:ext cx="1828800" cy="914400"/>
          </a:xfrm>
          <a:prstGeom prst="roundRect">
            <a:avLst>
              <a:gd name="adj" fmla="val 50000"/>
            </a:avLst>
          </a:prstGeom>
          <a:solidFill>
            <a:srgbClr val="1B2437"/>
          </a:solidFill>
          <a:ln/>
        </p:spPr>
      </p:sp>
      <p:sp>
        <p:nvSpPr>
          <p:cNvPr id="7" name="Text 5"/>
          <p:cNvSpPr/>
          <p:nvPr/>
        </p:nvSpPr>
        <p:spPr>
          <a:xfrm>
            <a:off x="3291840" y="274320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166360" y="3200400"/>
            <a:ext cx="50292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5715000" y="2743200"/>
            <a:ext cx="2011680" cy="914400"/>
          </a:xfrm>
          <a:prstGeom prst="roundRect">
            <a:avLst>
              <a:gd name="adj" fmla="val 10000"/>
            </a:avLst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15000" y="274320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bash · edit · read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772400" y="3200400"/>
            <a:ext cx="50292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8321040" y="2743200"/>
            <a:ext cx="2011680" cy="914400"/>
          </a:xfrm>
          <a:prstGeom prst="roundRect">
            <a:avLst>
              <a:gd name="adj" fmla="val 10000"/>
            </a:avLst>
          </a:prstGeom>
          <a:solidFill>
            <a:srgbClr val="EAF0F6"/>
          </a:solidFill>
          <a:ln w="12700">
            <a:solidFill>
              <a:srgbClr val="EAF0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0" y="274320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Outil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exécute vraiment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326880" y="3703320"/>
            <a:ext cx="0" cy="91440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26880" y="4617720"/>
            <a:ext cx="-548640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40480" y="4617720"/>
            <a:ext cx="0" cy="-100584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4754880" y="42519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 (sortie des tests, contenu du fichier…)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378440" y="267004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réponse finale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0332720" y="3200400"/>
            <a:ext cx="64008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48640" y="5303520"/>
            <a:ext cx="11201400" cy="914400"/>
          </a:xfrm>
          <a:prstGeom prst="roundRect">
            <a:avLst>
              <a:gd name="adj" fmla="val 12000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68680" y="53035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L'innovation n'est pas dans le LLM — c'est le même moteur qu'à l'acte 1. </a:t>
            </a:r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 est dans la boucle : un modèle + des outils + un critère de réussite mesurable.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 calling : appuyer sur des boutons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harnais déclare ses outils (schéma JSON) ; le modèle ne renvoie pas du texte libre, mais un appel structuré :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6583680" cy="2286000"/>
          </a:xfrm>
          <a:prstGeom prst="roundRect">
            <a:avLst>
              <a:gd name="adj" fmla="val 3200"/>
            </a:avLst>
          </a:prstGeom>
          <a:solidFill>
            <a:srgbClr val="101828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2249424"/>
            <a:ext cx="6126480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"name": "bash",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"input": {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"command": "python3 -m unittest"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406640" y="2103120"/>
            <a:ext cx="4206240" cy="2286000"/>
          </a:xfrm>
          <a:prstGeom prst="roundRect">
            <a:avLst>
              <a:gd name="adj" fmla="val 4800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699248" y="233172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modèle n'exécute rien.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C'est le harnais qui lance la commande, récupère la sortie et la réinjecte dans le contexte du tour suivant.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4709160"/>
            <a:ext cx="11064240" cy="1463040"/>
          </a:xfrm>
          <a:prstGeom prst="roundRect">
            <a:avLst>
              <a:gd name="adj" fmla="val 7500"/>
            </a:avLst>
          </a:prstGeom>
          <a:solidFill>
            <a:srgbClr val="1B2437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68680" y="4709160"/>
            <a:ext cx="10424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: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tous les modèles n'y arrivent pas aussi bien. Un petit modèle local peut rater ses appels d'outils — c'est un critère de choix, pas un détail. (On vérifie ça au live suivant.)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contexte est la ressource rare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Rappel de l'acte 1 : chaque tour repaie toute la fenêtre. Un agent, c'est une conversation qui grossit vite :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2377440" cy="822960"/>
          </a:xfrm>
          <a:prstGeom prst="rect">
            <a:avLst/>
          </a:prstGeom>
          <a:solidFill>
            <a:srgbClr val="1B2437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1488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système + AGENTS.md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926080" y="2148840"/>
            <a:ext cx="3566160" cy="82296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7" name="Text 5"/>
          <p:cNvSpPr/>
          <p:nvPr/>
        </p:nvSpPr>
        <p:spPr>
          <a:xfrm>
            <a:off x="3017520" y="214884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Outils déclarés + résultats des tours précédents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92240" y="2148840"/>
            <a:ext cx="2743200" cy="82296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0" y="21488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Fichiers lus (le code !)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235440" y="2148840"/>
            <a:ext cx="2194560" cy="82296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11" name="Text 9"/>
          <p:cNvSpPr/>
          <p:nvPr/>
        </p:nvSpPr>
        <p:spPr>
          <a:xfrm>
            <a:off x="9326880" y="21488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restante pour raisonner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011680"/>
            <a:ext cx="10881360" cy="0"/>
          </a:xfrm>
          <a:prstGeom prst="line">
            <a:avLst/>
          </a:prstGeom>
          <a:noFill/>
          <a:ln w="19050">
            <a:solidFill>
              <a:srgbClr val="1B243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0632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fenêtre de contexte (262 144 tokens ici)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794760"/>
            <a:ext cx="11201400" cy="2194560"/>
          </a:xfrm>
          <a:prstGeom prst="roundRect">
            <a:avLst>
              <a:gd name="adj" fmla="val 5000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68680" y="4023360"/>
            <a:ext cx="10607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font les bons harnais (et les bons drivers)</a:t>
            </a:r>
            <a:endParaRPr lang="en-US" sz="14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45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Lisent peu : grep avant lecture complète, extraient plutôt que verser.</a:t>
            </a:r>
            <a:endParaRPr lang="en-US" sz="14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45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Compactent : résument les tours anciens pour libérer de la fenêtre.</a:t>
            </a:r>
            <a:endParaRPr lang="en-US" sz="14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45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Externalisent : notes, fichiers, skills — ce qui doit survivre sort de la conversation.</a:t>
            </a:r>
            <a:endParaRPr lang="en-US" sz="14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Un AGENTS.md court et précis bat un pavé : chaque ligne est payée à chaque tour.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Pourquoi ça ralentit — et à quelle vitesse ça va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6400800" cy="4389120"/>
          </a:xfrm>
          <a:prstGeom prst="roundRect">
            <a:avLst>
              <a:gd name="adj" fmla="val 2500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68680" y="1737360"/>
            <a:ext cx="57607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7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KV cache, en une image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ne pas recalculer tout le passé à chaque token, le modèle met en mémoire ses calculs intermédiaires (les clés et valeurs d'attention).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Plus la conversation est longue, plus le cache est gros : il mange la mémoire vive avant la fenêtre théorique.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Le premier token d'une longue requête est lent (prefill) ; les suivants sont rapides (décode).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Un agent qui lit dix fichiers « paye » ces dix fichiers à chaque tour suivant.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269480" y="1463040"/>
            <a:ext cx="4389120" cy="2011680"/>
          </a:xfrm>
          <a:prstGeom prst="roundRect">
            <a:avLst>
              <a:gd name="adj" fmla="val 5455"/>
            </a:avLst>
          </a:prstGeom>
          <a:solidFill>
            <a:srgbClr val="1B2437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269480" y="1691640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35 tok/s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7498080" y="26060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génération — llama-server sur CPU, mesuré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269480" y="3703320"/>
            <a:ext cx="4389120" cy="2148840"/>
          </a:xfrm>
          <a:prstGeom prst="roundRect">
            <a:avLst>
              <a:gd name="adj" fmla="val 5106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269480" y="3931920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262 144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7543800" y="47548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de fenêtre sur notre serveur local — de quoi tenir une vraie session agentique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branchement : dix lignes de configuration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6035040" cy="3657600"/>
          </a:xfrm>
          <a:prstGeom prst="roundRect">
            <a:avLst>
              <a:gd name="adj" fmla="val 2000"/>
            </a:avLst>
          </a:prstGeom>
          <a:solidFill>
            <a:srgbClr val="101828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609344"/>
            <a:ext cx="5577840" cy="3364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"providers": {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"llama.cpp": {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"package": "…/openai-compatible",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"settings": {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"baseURL":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F5A6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"http://192.168.0.110:8080/v1"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521208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opencode.jsonc — extrait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040880" y="1920240"/>
            <a:ext cx="2103120" cy="1188720"/>
          </a:xfrm>
          <a:prstGeom prst="roundRect">
            <a:avLst>
              <a:gd name="adj" fmla="val 9231"/>
            </a:avLst>
          </a:prstGeom>
          <a:solidFill>
            <a:srgbClr val="EAF0F6"/>
          </a:solidFill>
          <a:ln/>
        </p:spPr>
      </p:sp>
      <p:sp>
        <p:nvSpPr>
          <p:cNvPr id="7" name="Text 5"/>
          <p:cNvSpPr/>
          <p:nvPr/>
        </p:nvSpPr>
        <p:spPr>
          <a:xfrm>
            <a:off x="7040880" y="192024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Laptop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(démo, OpenCode)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9189720" y="2514600"/>
            <a:ext cx="64008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9875520" y="1920240"/>
            <a:ext cx="1828800" cy="1188720"/>
          </a:xfrm>
          <a:prstGeom prst="roundRect">
            <a:avLst>
              <a:gd name="adj" fmla="val 9231"/>
            </a:avLst>
          </a:prstGeom>
          <a:solidFill>
            <a:srgbClr val="1B2437"/>
          </a:solidFill>
          <a:ln/>
        </p:spPr>
      </p:sp>
      <p:sp>
        <p:nvSpPr>
          <p:cNvPr id="10" name="Text 8"/>
          <p:cNvSpPr/>
          <p:nvPr/>
        </p:nvSpPr>
        <p:spPr>
          <a:xfrm>
            <a:off x="9875520" y="192024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Serveur CPU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192.168.0.110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686800" y="32461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compatible OpenAI, sur le LAN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040880" y="3977640"/>
            <a:ext cx="4663440" cy="1828800"/>
          </a:xfrm>
          <a:prstGeom prst="roundRect">
            <a:avLst>
              <a:gd name="adj" fmla="val 6000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315200" y="4206240"/>
            <a:ext cx="4114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cloud, remplacé par :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adresse IP locale. N'importe quel harnais qui parle l'API OpenAI se branche ici — mêmes outils, mêmes usages, données qui ne sortent pas.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777240"/>
            <a:ext cx="1234440" cy="475488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777240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822960" y="1554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OpenCode + modèle local : 3 tests rouges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822960" y="2834640"/>
            <a:ext cx="402336" cy="40233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8346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71600" y="2798064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constat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371600" y="3218688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python3 -m unittest dans demo/ : 9 tests, 3 échecs. Un bug de facturation. Je ne dis pas où.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" y="4160520"/>
            <a:ext cx="402336" cy="40233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41605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71600" y="4123944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L'agent travaille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371600" y="4544568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Les tests sont rouges, rends-les verts. » — lire, diagnostiquer, éditer, revérifier. Commenter les tool calls en direct.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309360" y="2834640"/>
            <a:ext cx="402336" cy="40233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4" name="Text 12"/>
          <p:cNvSpPr/>
          <p:nvPr/>
        </p:nvSpPr>
        <p:spPr>
          <a:xfrm>
            <a:off x="6309360" y="28346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858000" y="279806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diff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858000" y="3218688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valeur a changé : le palier de remise à 9 % au lieu de 10 %... d'après le code. La docstring, elle, disait la vérité.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309360" y="4343400"/>
            <a:ext cx="5029200" cy="1463040"/>
          </a:xfrm>
          <a:prstGeom prst="roundRect">
            <a:avLst>
              <a:gd name="adj" fmla="val 7500"/>
            </a:avLst>
          </a:prstGeom>
          <a:solidFill>
            <a:srgbClr val="101828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583680" y="4526280"/>
            <a:ext cx="4526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L'agent qui fait ça tourne sur le serveur local,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35 tokens/s. La session qui a PRÉPARÉ cette présentation aussi.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22960" y="6035040"/>
            <a:ext cx="201168" cy="201168"/>
          </a:xfrm>
          <a:prstGeom prst="ellipse">
            <a:avLst/>
          </a:prstGeom>
          <a:solidFill>
            <a:srgbClr val="1B2437"/>
          </a:solidFill>
          <a:ln w="15875">
            <a:solidFill>
              <a:srgbClr val="9FB0C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629107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Comprendre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40280" y="6035040"/>
            <a:ext cx="201168" cy="201168"/>
          </a:xfrm>
          <a:prstGeom prst="ellipse">
            <a:avLst/>
          </a:prstGeom>
          <a:solidFill>
            <a:srgbClr val="02C39A"/>
          </a:solidFill>
          <a:ln w="15875">
            <a:solidFill>
              <a:srgbClr val="02C39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920240" y="629107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Agir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657600" y="6035040"/>
            <a:ext cx="201168" cy="201168"/>
          </a:xfrm>
          <a:prstGeom prst="ellipse">
            <a:avLst/>
          </a:prstGeom>
          <a:solidFill>
            <a:srgbClr val="1B2437"/>
          </a:solidFill>
          <a:ln w="15875">
            <a:solidFill>
              <a:srgbClr val="9FB0C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337560" y="629107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Étendre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965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ACTE 3 · ÉTENDRE</a:t>
            </a:r>
            <a:endParaRPr lang="en-US" sz="15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822960" y="25146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Skills, MCP, paysage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822960" y="4297680"/>
            <a:ext cx="201168" cy="201168"/>
          </a:xfrm>
          <a:prstGeom prst="ellipse">
            <a:avLst/>
          </a:prstGeom>
          <a:solidFill>
            <a:srgbClr val="1B2437"/>
          </a:solidFill>
          <a:ln w="15875">
            <a:solidFill>
              <a:srgbClr val="9FB0C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455371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Comprendre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240280" y="4297680"/>
            <a:ext cx="201168" cy="201168"/>
          </a:xfrm>
          <a:prstGeom prst="ellipse">
            <a:avLst/>
          </a:prstGeom>
          <a:solidFill>
            <a:srgbClr val="1B2437"/>
          </a:solidFill>
          <a:ln w="15875">
            <a:solidFill>
              <a:srgbClr val="9FB0C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920240" y="455371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Agir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0" y="4297680"/>
            <a:ext cx="201168" cy="201168"/>
          </a:xfrm>
          <a:prstGeom prst="ellipse">
            <a:avLst/>
          </a:prstGeom>
          <a:solidFill>
            <a:srgbClr val="02C39A"/>
          </a:solidFill>
          <a:ln w="15875">
            <a:solidFill>
              <a:srgbClr val="02C39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7560" y="455371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Étendre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skill = un fichier markdown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852160" cy="4206240"/>
          </a:xfrm>
          <a:prstGeom prst="roundRect">
            <a:avLst>
              <a:gd name="adj" fmla="val 1739"/>
            </a:avLst>
          </a:prstGeom>
          <a:solidFill>
            <a:srgbClr val="101828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609344"/>
            <a:ext cx="5394960" cy="3913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A9B7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3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explain-file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description: Explique un fichier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 code (rôle, structure,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subtilités, limites)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A9B7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Lis le fichier en entier.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Rends : Rôle, Structure,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Subtilités, Limites.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Moins de 20 lignes.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576072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.opencode/skills/explain-file/SKILL.md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858000" y="1463040"/>
            <a:ext cx="4800600" cy="4480560"/>
          </a:xfrm>
          <a:prstGeom prst="roundRect">
            <a:avLst>
              <a:gd name="adj" fmla="val 2449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150608" y="1737360"/>
            <a:ext cx="42062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ça marche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Le harnais liste name + description à l'agent — c'est tout ce qui coûte du contexte au repos.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Quand la situation colle, l'agent charge le corps du fichier et l'applique.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Progressive disclosure : la connaissance est versée à la demande, pas en permanence.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Rien à re-entraîner, rien à déployer. Un fichier. Git-able, partageable, relisible dans dix ans.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777240"/>
            <a:ext cx="1234440" cy="475488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777240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822960" y="1554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Écrire une skill en direct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822960" y="2834640"/>
            <a:ext cx="402336" cy="40233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8346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71600" y="2798064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mkdir + SKILL.md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371600" y="3218688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dossier, un fichier, le frontmatter (name + description). On le tape devant vous.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" y="4160520"/>
            <a:ext cx="402336" cy="40233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41605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71600" y="4123944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Quatre consignes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371600" y="4544568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Rôle · Structure · Subtilités · Limites. La skill entière fait quinze lignes.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309360" y="2834640"/>
            <a:ext cx="402336" cy="40233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4" name="Text 12"/>
          <p:cNvSpPr/>
          <p:nvPr/>
        </p:nvSpPr>
        <p:spPr>
          <a:xfrm>
            <a:off x="6309360" y="28346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858000" y="279806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L'invocation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858000" y="3218688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explique demo/pricing.py » — l'agent voit la nouvelle skill, la charge, l'applique.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309360" y="4343400"/>
            <a:ext cx="5029200" cy="1097280"/>
          </a:xfrm>
          <a:prstGeom prst="roundRect">
            <a:avLst>
              <a:gd name="adj" fmla="val 8333"/>
            </a:avLst>
          </a:prstGeom>
          <a:solidFill>
            <a:srgbClr val="101828"/>
          </a:solidFill>
          <a:ln/>
        </p:spPr>
      </p:sp>
      <p:sp>
        <p:nvSpPr>
          <p:cNvPr id="18" name="Text 16"/>
          <p:cNvSpPr/>
          <p:nvPr/>
        </p:nvSpPr>
        <p:spPr>
          <a:xfrm>
            <a:off x="6537960" y="452628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explique demo/pricing.py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skill: explain-file chargée ✓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22960" y="6035040"/>
            <a:ext cx="201168" cy="201168"/>
          </a:xfrm>
          <a:prstGeom prst="ellipse">
            <a:avLst/>
          </a:prstGeom>
          <a:solidFill>
            <a:srgbClr val="1B2437"/>
          </a:solidFill>
          <a:ln w="15875">
            <a:solidFill>
              <a:srgbClr val="9FB0C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629107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Comprendre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40280" y="6035040"/>
            <a:ext cx="201168" cy="201168"/>
          </a:xfrm>
          <a:prstGeom prst="ellipse">
            <a:avLst/>
          </a:prstGeom>
          <a:solidFill>
            <a:srgbClr val="1B2437"/>
          </a:solidFill>
          <a:ln w="15875">
            <a:solidFill>
              <a:srgbClr val="9FB0C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920240" y="629107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Agir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657600" y="6035040"/>
            <a:ext cx="201168" cy="201168"/>
          </a:xfrm>
          <a:prstGeom prst="ellipse">
            <a:avLst/>
          </a:prstGeom>
          <a:solidFill>
            <a:srgbClr val="02C39A"/>
          </a:solidFill>
          <a:ln w="15875">
            <a:solidFill>
              <a:srgbClr val="02C39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337560" y="629107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Étendre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MCP : le port USB des outils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709160" y="2743200"/>
            <a:ext cx="2743200" cy="1097280"/>
          </a:xfrm>
          <a:prstGeom prst="roundRect">
            <a:avLst>
              <a:gd name="adj" fmla="val 12500"/>
            </a:avLst>
          </a:prstGeom>
          <a:solidFill>
            <a:srgbClr val="1B2437"/>
          </a:solidFill>
          <a:ln/>
        </p:spPr>
      </p:sp>
      <p:sp>
        <p:nvSpPr>
          <p:cNvPr id="4" name="Text 2"/>
          <p:cNvSpPr/>
          <p:nvPr/>
        </p:nvSpPr>
        <p:spPr>
          <a:xfrm>
            <a:off x="4709160" y="27432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Harnais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(OpenCode…)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914400" y="1554480"/>
            <a:ext cx="228600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55448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 Git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080760" y="3291840"/>
            <a:ext cx="-4023360" cy="-1453896"/>
          </a:xfrm>
          <a:prstGeom prst="line">
            <a:avLst/>
          </a:prstGeom>
          <a:noFill/>
          <a:ln w="19050">
            <a:solidFill>
              <a:srgbClr val="02C39A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4892040" y="1417320"/>
            <a:ext cx="228600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92040" y="141732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Tickets / tracker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080760" y="3291840"/>
            <a:ext cx="-45720" cy="-1591056"/>
          </a:xfrm>
          <a:prstGeom prst="line">
            <a:avLst/>
          </a:prstGeom>
          <a:noFill/>
          <a:ln w="19050">
            <a:solidFill>
              <a:srgbClr val="02C39A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9052560" y="1554480"/>
            <a:ext cx="228600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052560" y="155448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Bases de données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080760" y="3291840"/>
            <a:ext cx="4114800" cy="-1453896"/>
          </a:xfrm>
          <a:prstGeom prst="line">
            <a:avLst/>
          </a:prstGeom>
          <a:noFill/>
          <a:ln w="19050">
            <a:solidFill>
              <a:srgbClr val="02C39A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14400" y="4480560"/>
            <a:ext cx="228600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448056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Navigateur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080760" y="3291840"/>
            <a:ext cx="-4023360" cy="1472184"/>
          </a:xfrm>
          <a:prstGeom prst="line">
            <a:avLst/>
          </a:prstGeom>
          <a:noFill/>
          <a:ln w="19050">
            <a:solidFill>
              <a:srgbClr val="02C39A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709160" y="4709160"/>
            <a:ext cx="228600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09160" y="470916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Fichiers d'entreprise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080760" y="3291840"/>
            <a:ext cx="-228600" cy="1700784"/>
          </a:xfrm>
          <a:prstGeom prst="line">
            <a:avLst/>
          </a:prstGeom>
          <a:noFill/>
          <a:ln w="19050">
            <a:solidFill>
              <a:srgbClr val="02C39A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9052560" y="4480560"/>
            <a:ext cx="228600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052560" y="448056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métier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080760" y="3291840"/>
            <a:ext cx="4114800" cy="1472184"/>
          </a:xfrm>
          <a:prstGeom prst="line">
            <a:avLst/>
          </a:prstGeom>
          <a:noFill/>
          <a:ln w="19050">
            <a:solidFill>
              <a:srgbClr val="02C39A"/>
            </a:solidFill>
            <a:prstDash val="solid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548640" y="548640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serveur MCP expose des outils ; tous les harnais qui parlent MCP les voient. Standard ouvert, indépendant du vendeur.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paysage des harnais (octobre 2026)</a:t>
            </a:r>
            <a:endParaRPr lang="en-US" sz="3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2834640"/>
                <a:gridCol w="2468880"/>
                <a:gridCol w="32918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Outil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Interface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Modèle local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OpenCode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 + IDE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source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oui (comme ici)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Code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propriétaire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oui (serveur compatible)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Codex CLI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source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oui (provider custom)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Gemini CLI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source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5A6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Cursor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propriétaire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 (cloud d'abord)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extension VS Code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source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48640" y="56235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↔ IDE, vertical ↔ éditeur étendu : la vraie ligne de partage est la dernière colonne.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Frameworks &amp; standards — sans obligation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86400" cy="3566160"/>
          </a:xfrm>
          <a:prstGeom prst="roundRect">
            <a:avLst>
              <a:gd name="adj" fmla="val 3077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68680" y="1737360"/>
            <a:ext cx="49377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7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Frameworks d'agents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/ LangGraph · CrewAI · AutoGen · PydanticAI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CONSTRUIRE votre propre agent dans du code : workflows multi-agents, routage, états durables. Pertinent quand vous vendez de l'agentique — pas pour coder au quotidien.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263640" y="1463040"/>
            <a:ext cx="5486400" cy="3566160"/>
          </a:xfrm>
          <a:prstGeom prst="roundRect">
            <a:avLst>
              <a:gd name="adj" fmla="val 3077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583680" y="1737360"/>
            <a:ext cx="49377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7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 ouverts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· AGENTS.md · format Agent Skills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conventions, pas des bibliothèques : les outils se conforment, vous changez de harnais sans rien perdre. Ce sont eux qui durent.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48640" y="5303520"/>
            <a:ext cx="11201400" cy="914400"/>
          </a:xfrm>
          <a:prstGeom prst="roundRect">
            <a:avLst>
              <a:gd name="adj" fmla="val 10000"/>
            </a:avLst>
          </a:prstGeom>
          <a:solidFill>
            <a:srgbClr val="1B2437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53035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démarrer, rien de tout ça n'est requis : </a:t>
            </a:r>
            <a:pPr indent="0" marL="0">
              <a:buNone/>
            </a:pPr>
            <a:r>
              <a:rPr lang="en-US" sz="17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harnais + un modèle local. Le reste est optionnel.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Trois modèles mentaux à emporter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20440" cy="4023360"/>
          </a:xfrm>
          <a:prstGeom prst="roundRect">
            <a:avLst>
              <a:gd name="adj" fmla="val 3117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22960" y="169164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822960" y="260604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Machine à prédire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3154680"/>
            <a:ext cx="29718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token suivant, encore et encore. L'hallucination est structurelle : on outille la vérification, on ne la demande pas au modèle.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70832" y="1463040"/>
            <a:ext cx="3520440" cy="4023360"/>
          </a:xfrm>
          <a:prstGeom prst="roundRect">
            <a:avLst>
              <a:gd name="adj" fmla="val 3117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645152" y="169164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4645152" y="260604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boucle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645152" y="3154680"/>
            <a:ext cx="29718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agent = LLM + outils + critère mesurable. Le LLM ne change rien ; c'est le montage qui développe.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93024" y="1463040"/>
            <a:ext cx="3520440" cy="4023360"/>
          </a:xfrm>
          <a:prstGeom prst="roundRect">
            <a:avLst>
              <a:gd name="adj" fmla="val 3117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467344" y="169164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800" dirty="0"/>
          </a:p>
        </p:txBody>
      </p:sp>
      <p:sp>
        <p:nvSpPr>
          <p:cNvPr id="13" name="Text 11"/>
          <p:cNvSpPr/>
          <p:nvPr/>
        </p:nvSpPr>
        <p:spPr>
          <a:xfrm>
            <a:off x="8467344" y="260604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Contexte rare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467344" y="3154680"/>
            <a:ext cx="29718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token dans la fenêtre est payé à chaque tour. Bien coder avec un agent, c'est gérer ce budget.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002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Bilan confidentiel — l'inventaire de la journée :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822960" y="2103120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RIEN.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822960" y="45720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 prompts, le code de la démo, les tests, la skill, les correctifs de l'agent 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 est resté sur les machines de cette salle.</a:t>
            </a:r>
            <a:endParaRPr lang="en-US" sz="20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822960" y="214884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4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Chez vous ce soir — trois commandes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6949440" cy="3291840"/>
          </a:xfrm>
          <a:prstGeom prst="roundRect">
            <a:avLst>
              <a:gd name="adj" fmla="val 2222"/>
            </a:avLst>
          </a:prstGeom>
          <a:solidFill>
            <a:srgbClr val="101828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609344"/>
            <a:ext cx="6492240" cy="2999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clone &lt;le repo de cette présentation&gt;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compose build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compose run --rm llama bash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A9B7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hf download &lt;modèle&gt; --local-dir /models/&lt;modèle&gt;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A9B7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llama-cli -m /models/&lt;modèle&gt;/&lt;fichier&gt;.gguf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6949440" cy="1188720"/>
          </a:xfrm>
          <a:prstGeom prst="roundRect">
            <a:avLst>
              <a:gd name="adj" fmla="val 9231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516636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repo contient tout : </a:t>
            </a:r>
            <a:pPr indent="0" marL="0">
              <a:buNone/>
            </a:pPr>
            <a:r>
              <a:rPr lang="en-US" sz="145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conteneur llama.cpp, la démo avec son bug re-verdissable, la skill explain-file, le plan et les scripts des lives.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8138160" y="1554480"/>
            <a:ext cx="329184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9050">
            <a:solidFill>
              <a:srgbClr val="1B2437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8321040" y="1783080"/>
            <a:ext cx="29260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→ repo public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github.com/&lt;vous&gt;/llama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(à générer avant le jour J)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14884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Merci.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22960" y="39319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aux questions — et si le serveur tient, à une démo improvisée.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: github.com/&lt;vous&gt;/llama · licence MIT · tout est rejouable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ocal Terminal">
  <a:themeElements>
    <a:clrScheme name="Local Terminal">
      <a:dk1>
        <a:srgbClr val="1B2437"/>
      </a:dk1>
      <a:lt1>
        <a:srgbClr val="FFFFFF"/>
      </a:lt1>
      <a:dk2>
        <a:srgbClr val="5A6B85"/>
      </a:dk2>
      <a:lt2>
        <a:srgbClr val="EAF0F6"/>
      </a:lt2>
      <a:accent1>
        <a:srgbClr val="02C39A"/>
      </a:accent1>
      <a:accent2>
        <a:srgbClr val="028090"/>
      </a:accent2>
      <a:accent3>
        <a:srgbClr val="F5A623"/>
      </a:accent3>
      <a:accent4>
        <a:srgbClr val="1E2761"/>
      </a:accent4>
      <a:accent5>
        <a:srgbClr val="94A7BF"/>
      </a:accent5>
      <a:accent6>
        <a:srgbClr val="BFEFE3"/>
      </a:accent6>
      <a:hlink>
        <a:srgbClr val="028090"/>
      </a:hlink>
      <a:folHlink>
        <a:srgbClr val="5A6B85"/>
      </a:folHlink>
    </a:clrScheme>
    <a:fontScheme name="Local Terminal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llama-local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LLM &amp; développement agentique — tout ça tourne chez vous</dc:title>
  <dc:subject>PptxGenJS Presentation</dc:subject>
  <dc:creator>m-max</dc:creator>
  <cp:lastModifiedBy>m-max</cp:lastModifiedBy>
  <cp:revision>1</cp:revision>
  <dcterms:created xsi:type="dcterms:W3CDTF">2026-10-02T23:55:38Z</dcterms:created>
  <dcterms:modified xsi:type="dcterms:W3CDTF">2026-10-02T23:55:38Z</dcterms:modified>
</cp:coreProperties>
</file>