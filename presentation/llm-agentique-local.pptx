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8535403-55a1-9f5d-3e40-69a2ba4d600b}">
          <p14:sldIdLst>
            <p14:sldId id="256"/>
            <p14:sldId id="257"/>
          </p14:sldIdLst>
        </p14:section>
        <p14:section name="Acte 1 — Exécuter" id="{b363df5c-1839-19c4-c4e7-31155130e90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cte 2 — Orchestrer" id="{9a1ffce6-790f-bde5-441a-24881a17282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e 3 — Explorer" id="{a551790b-5518-877b-449b-ff02f11f20a8}">
          <p14:sldIdLst>
            <p14:sldId id="279"/>
            <p14:sldId id="280"/>
            <p14:sldId id="281"/>
          </p14:sldIdLst>
        </p14:section>
        <p14:section name="Clôture" id="{12aacac5-2bd5-9030-4c6c-f21760f9d4a9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(GiB) — Llama 3 8B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F16</c:v>
                  </c:pt>
                  <c:pt idx="1">
                    <c:v>Q8_0</c:v>
                  </c:pt>
                  <c:pt idx="2">
                    <c:v>Q6_K</c:v>
                  </c:pt>
                  <c:pt idx="3">
                    <c:v>Q5_K_M</c:v>
                  </c:pt>
                  <c:pt idx="4">
                    <c:v>Q4_K_M</c:v>
                  </c:pt>
                  <c:pt idx="5">
                    <c:v>Q3_K_M</c:v>
                  </c:pt>
                  <c:pt idx="6">
                    <c:v>Q2_K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14.97</c:v>
                </c:pt>
                <c:pt idx="1">
                  <c:v>7.96</c:v>
                </c:pt>
                <c:pt idx="2">
                  <c:v>6.14</c:v>
                </c:pt>
                <c:pt idx="3">
                  <c:v>5.33</c:v>
                </c:pt>
                <c:pt idx="4">
                  <c:v>4.58</c:v>
                </c:pt>
                <c:pt idx="5">
                  <c:v>3.74</c:v>
                </c:pt>
                <c:pt idx="6">
                  <c:v>2.96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(tok/s, 6 threads)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tok/s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Spark-X2.5-4B (dense) · 2,4 GiB</c:v>
                  </c:pt>
                  <c:pt idx="1">
                    <c:v>LFM2.5-8B-A1B (MoE) · 5,9 GiB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14.8</c:v>
                </c:pt>
                <c:pt idx="1">
                  <c:v>34.6</c:v>
                </c:pt>
              </c:numCache>
            </c:numRef>
          </c:val>
        </c:ser>
        <c:dLbls>
          <c:numFmt formatCode="0.0&quot; tok/s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KV cache à 128k tokens (GiB)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Dense type Llama-3.1-8B (calcul)</c:v>
                  </c:pt>
                  <c:pt idx="1">
                    <c:v>Spark-X2.5-4B (9 couches globales)</c:v>
                  </c:pt>
                  <c:pt idx="2">
                    <c:v>LFM2.5-8B-A1B (6 couches d'attention)</c:v>
                  </c:pt>
                  <c:pt idx="3">
                    <c:v>LFM2.5-8B-A1B, cache q8_0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4.6</c:v>
                </c:pt>
                <c:pt idx="2">
                  <c:v>1.5</c:v>
                </c:pt>
                <c:pt idx="3">
                  <c:v>0.8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Meilleur modèle fermé</c:v>
                </c:pt>
              </c:strCache>
            </c:strRef>
          </c:tx>
          <c:spPr>
            <a:solidFill>
              <a:srgbClr val="1B2437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65</c:v>
                </c:pt>
                <c:pt idx="2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Meilleur open-weights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96.4</c:v>
                </c:pt>
                <c:pt idx="1">
                  <c:v>39</c:v>
                </c:pt>
                <c:pt idx="2">
                  <c:v>46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4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Bande passante mémoire (Go/s)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 Go/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43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Laptop du talk (mesuré, effectif)</c:v>
                  </c:pt>
                  <c:pt idx="1">
                    <c:v>Strix Halo · 128 Go (mesuré)</c:v>
                  </c:pt>
                  <c:pt idx="2">
                    <c:v>DGX Spark · 128 Go</c:v>
                  </c:pt>
                  <c:pt idx="3">
                    <c:v>Mac M5 Max · 128 Go</c:v>
                  </c:pt>
                  <c:pt idx="4">
                    <c:v>Mac M5 Ultra · 512 Go</c:v>
                  </c:pt>
                  <c:pt idx="5">
                    <c:v>RTX 5090 · 32 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215</c:v>
                </c:pt>
                <c:pt idx="2">
                  <c:v>273</c:v>
                </c:pt>
                <c:pt idx="3">
                  <c:v>614</c:v>
                </c:pt>
                <c:pt idx="4">
                  <c:v>1200</c:v>
                </c:pt>
                <c:pt idx="5">
                  <c:v>1800</c:v>
                </c:pt>
              </c:numCache>
            </c:numRef>
          </c:val>
        </c:ser>
        <c:dLbls>
          <c:numFmt formatCode="0&quot; Go/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 et hook (3 min). « Vous appuyez sur Entrée : votre code part chez quelqu'un d'autre. Aujourd'hui, la même chose sans que rien ne sorte de la salle — et on regarde ce que fait la machine. » Sondage à main levée : qui code avec un assistant IA ? qui a déjà fait tourner un modèle chez soi ? qui saurait dire si un 8B tient sur son laptop (réponse slide « Dimensionner ») ? Cadre : ~60 min, questions pendant les lives ou à la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(1 min). Chaque acte a son live. Annoncer les deux fils rouges : (1) la mémoire — RAM, bande passante, KV cache — explique presque tout ; (2) la confidentialité, avec une nuance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l'acte : qu'est-ce qui se passe entre l'appui sur Entrée et le premier mot ? Chaque étape sera reliée à un réglage et à une mesure. Pas de maths, pas d'entraînement : uniquement ce qui explique la RAM et la vitesse.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carte de l'acte (2 min). Dérouler les six étapes de gauche à droite. Insister sur les deux cases sombres (prefill, decode) : c'est là que se joue la vitesse. La bande verte (KV cache) reviendra deux fois : ici, puis à l'acte 2 comme cache de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GGUF (2 min). Lire le nom comme une étiquette de supermarché. A1B = environ 1 B de paramètres actifs : c'est ce qui fera la vitesse (slide MoE). Le chat template embarqué est la clé du tool calling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Chargement (2 min). Erreur répandue : « mmap permet de faire tourner un modèle plus gros que la RAM ». Faux en pratique : il sera relu depuis le disque à chaque token. La ligne de log 0.00 MiB est la preuve de la zéro-copie. Les anciens tutos parlent de --no-mmap/--mlock : dans la version épinglée, c'est -lm.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Quantification (3 min). Le geste d'achat : prendre Q4_K_M par défaut (c'est aussi le défaut de llama-server -hf), monter en Q5/Q6 si la RAM le permet. La règle Go ≈ B × bpw / 8 permet de répondre à la question du sondage : un 8B en Q4_K_M ≈ 5 Go. Suffixes : _S/_M/_L = tenseurs sensibles en plus haute précision (PR #1684) ; UD-/imatrix = quant calibré (revendication éditeur). Tendance : modèles livrés déjà quantifiés (MXFP4 de gpt-oss, QAT).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pivot (3 min). Deux phases, deux goulots. Sur CPU, le prefill n'est que 2 à 4 fois plus rapide que le decode — et non « un à deux ordres de grandeur » comme on le lit (c'est vrai sur GPU). Conséquence, à garder pour l'acte 2 : un agent qui envoie 10 000 tokens de prompt attend longtemps son premier mot sur un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Preuve (2 min). Deux modèles très différents, une même limite : ~38 Go/s, la bande passante réelle de la RAM de ce laptop. C'est la règle de la slide précédente vérifiée en vrai. Threads : llama.cpp sans -t exclut déjà les E-cores et l'hyperthreading (6 ici) ; ajouter des threads sature la mémoire et ajoute de la synchronisation.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(3 min). Le K et le V : ce que chaque couche d'attention a calculé pour les tokens passés. La formule est vérifiable : LFM2.5 = 6 couches × 8 têtes × 64 × 2 × 2 o = 12 Kio/token → 384 MiB à 32k, exactement la valeur du log. Les modèles récents réduisent ce coût : moins de têtes KV (GQA), couches sans attention (hybrides conv/SSM), fenêtre glissante. Le cache est réservé au démarrage : pas de surprise en cours de route, mais une grosse réservation si -c est grand. Leviers : -c (ne réserver que ce qu'on utilise : Qwen3-0.6B 4 480 MiB par défaut, ~450 MiB avec -c 4096), -ctk/-ctv q8_0 (÷1,9, le V quantifié exige flash attention, auto), et surtout le choix du modèle. Piège mesuré : llama-server sans option ouvre 4 slots → 163 840 tokens → 17,9 GiB de KV pour un modèle de 373 Mo ; fixer -c et -np 1. Autre piège : --fit (défaut) peut réduire le contexte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MoE (2 min). Tous les poids doivent être en RAM (le routeur peut choisir n'importe quel expert au token suivant), mais seuls ceux des experts choisis sont relus : la vitesse suit les paramètres actifs. Le serveur de la démo : ~177 B au compteur de llama-server, 111 Go de fichier, mais 6 B actifs. Le décodage spéculatif (têtes MTP) explique une partie des 36 tok/s : ✂ coupable en version 60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Dimensionner (2 min). Les deux formules suffisent pour 90 % des décisions. Le calcul pour le laptop tombe juste sur la mesure. Honnêteté : le chat tient sur un laptop ; l'agent de la démo a besoin d'une machine à ~128 Go — on verra pourquoi à l'acte 2 (le prefill). ✂ Sampling en une ligne si le temps le permet : le serveur applique ses defaults (temperature 1.0, top_p 0.95, min_p 0.05, lus dans /props).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1 (7 min). Script : presentation/SCENARIOS.md. Points à montrer : (1) les tailles sur la page HF ; (2) le téléchargement ; (3) la ligne llama_kv_cache et le breakdown model/context ; (4) la relance avec -c 4096 ; (5) la ligne de timings Prompt/Generation : prefill et decode en vrai. Filet : modèle pré-téléchargé + HF_HUB_OFFLINE=1, captures des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Ça discute, et on sait pourquoi c'est rapide ou lent. Mais un chat ne corrige pas un bug. » Question de l'acte : qu'est-ce qu'un agent envoie au modèle, et pourquoi ça marche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état (2 min). Point fondateur de l'acte : à chaque tour, le harnais renvoie TOUT au modèle. Le tableau « qui fait quoi » est la grille de lecture des slides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Anatomie (3 min). L'ordre est l'ordre réel : les outils sont écrits en tête par le template Qwen, puis les blocs du harnais du plus stable au plus variable. Ce n'est pas un hasard : le préfixe stable est ce que le KV cache pourra réutiliser (slide « cache de prompt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calling (3 min). Le modèle n'appelle rien : il écrit du texte dans un format convenu (ici le XML de Qwen). Le serveur reconnaît ce format, le transforme en tool_calls JSON pour le harnais, et peut même contraindre la génération à rester dans le schéma dès que &lt;tool_call&gt; apparaît. Le résultat de l'outil revient au modèle comme un message utilisateur. C'est pourquoi le choix du modèle ET de son template compte autant que sa taille.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boucle (2 min). LE diagramme du talk, à dessiner du doigt. Montrer la sortie « non » : la seule condition d'arrêt est que le modèle réponde sans demander d'outil. ~8 appels d'outils pour chaque réponse finale : un agent, c'est surtout de la lecture et de l'exécution.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Cache de prompt (3 min). C'est le KV cache de l'acte 1, réutilisé d'une requête à l'autre. Sans lui, chaque tour recalculerait tout le préfixe. Manus en fait « la métrique la plus importante d'un agent en production ». Sur CPU, le premier tour reste douloureux : c'est la vraie raison pour laquelle la démo d'agent tourne sur le serveur. Si question sur la taille du contexte : une session réelle passe de 9,6 k à 191 k tokens (une seule sortie shell : +29 k) ; OpenCode tronque les sorties (2 000 lignes / 50 Ko) et compacte à fenêtre − max(10 %, 16 k) ; sans limit.context dans la config, pas de compaction.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Branchement (2 min). La config réelle, pas un slide marketing : ~30 lignes au total avec les variantes. Attention à la version : OpenCode v2 a changé les clés (providers/package/settings) et ne lit plus CLAUDE.md, seulement AGENTS.md. N'importe quel harnais qui parle l'API OpenAI se branche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2 (10 min). Script : SCENARIOS.md. Avant : demo/reset.sh et python3 demo/web/server.py (http://127.0.0.1:8000). Prompt : « Corrige le ticket demo/TICKET.md. » (plan B : « Les tests de demo/ sont rouges, rends-les verts. »). Ne PAS révéler le bug avant le git diff. Pendant que l'agent travaille, montrer le log serveur : prompt eval time petit (seul le suffixe est recalculé) grâce au cache. Punchline : curl /metrics — chiffres du jour à relever avant la session (compteurs cumulés depuis le démarrage du serveur).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(2 min). Trois niveaux : des règles toujours présentes (AGENTS.md), du savoir-faire chargé à la demande (skills), des outils externes (MCP). Ironie mesurée sur ce repo : la liste des skills est le premier poste du prompt de base. Annoncer le live 3 : on écrit une skill en 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3 (5 min). Rien à redéployer : c'était un fichier. La description est ce que l'agent voit au départ ; le corps n'est chargé qu'à l'usage. Filet : git checkout de la version committée. ✂ Coupable en version 60 min (montrer le fichier committé à la place).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Vous avez vu une pile complète : un modèle, un moteur, un harnais. Où en sont les modèles, et sur quoi les faire tourner ? » Tous les chiffres de cet acte sont datés et sourcés dans docs/research/acte3-paysage.md —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Modèles (2 min). Message honnête : sur les benchmarks courts, l'écart a disparu ; sur les tâches agentiques longues, les meilleurs modèles fermés gardent une avance nette. Et les open-weights qui s'en approchent sont énormes. Les chiffres bougent chaque mois :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Matériel (2 min). Le critère n°1 est la bande passante mémoire, et la quantité de mémoire qu'elle sert. Les chiffres constructeur sont théoriques ; le laptop est une mesure effective (le théorique LPDDR5 est autour de 80 Go/s). Prix volatils en 2026 : les donner oralement, à revérifier.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(1 min). Laisser « RIEN » seul à l'écran. Retour au hook : « ce que vous collez dans un chat cloud n'est, aujourd'hui, jamais sorti d'ici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 (1 min). Le QR mène au repo public. La démo est rejouable chez soi, bug compris, et toutes les mesures du talk sont dans docs/research.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Proposer de prolonger les lives à la demande (« et si on essayait sur VOTRE projet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R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DIVISEUR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V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LIVE · 60 MIN · ZÉRO CLOUD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&amp; développement agentique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ça tourne chez vous — à condition de savoir où passe la mémoire.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m-max · octobre 2026 · un laptop CPU, un serveur sur le LAN, aucun cloud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programme : exécuter, orchestrer, explorer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Exécuter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entre Entrée et le premier mot : mémoire, quantification, prefill, decode, KV cache.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de Hugging Face à la ligne de log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0872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90872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Orchestrer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90872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qu'un agent envoie au modèle à chaque tour, et pourquoi ça marche : outils, boucle, contexte, cache.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90872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un agent local corrige un bug · une skill en direct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13064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13064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13064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paysage à l'automne 2026 : où en sont les modèles open-weights, et sur quel matériel les faire tourner.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13064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du jour, sourcés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71500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fils rouges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mémoire est la monnaie · rien ne sort de la salle.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 · EXÉCUTER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Entrée et le premier mot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étapes entre Entrée et le premier mot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+ métadonnées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choix du quant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21408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50592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50592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dans la 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50592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taille du fichier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52544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+ tokens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52544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que lit le modèle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 template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25312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54496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54496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prompt d'un coup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54496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calcul · 1er mot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27264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56448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56448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56448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à la fois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56448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bande passante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29216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05840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streamé à l'écran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tok/s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918704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boucle : × chaque token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54496" y="3520440"/>
            <a:ext cx="3456432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254496" y="352044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: rempli par le prefill, relu à chaque token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352044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ressources, deux limites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RAM : il faut y loger les poids et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bande passante mémoire : le decode relit les poids à chaque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(CPU/GPU) ne limite vraiment que le prefill.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a un réglage et une mesure.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les prend une par une.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fichier GGUF se lit comme une étiquette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LFM2.5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12848" y="1508760"/>
            <a:ext cx="91440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12848" y="150876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121408" y="22860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totaux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6976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6976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145536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(MoE)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43984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352544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Unsloth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50992" y="150876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50992" y="1508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Q5_K_M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59552" y="2286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bits, mix 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(tenseurs sensibles +)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63840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.gguf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772400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LFM2.5-8B-A1B-UD-Q5_K_M.gguf · 5,92 GiB sur le disque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Dedans : les poids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milliards de nombres, rangés en tenseurs, déjà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fichier, pensé pour être mappé en mémoire tel quel.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du fichier ≈ RAM occupée par les poids.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45352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et des métadonnées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nombre de couches, contexte d'entraînement.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 template (Jinja) : comment formater une conversation.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« rien à configurer » : -c 0 lit le contexte du modèle.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spec GGUF (ggml-org/ggml docs/gguf.md) · model card unsloth/LFM2.5-8B-A1B-GGUF · taille : print_info du log llama.cpp.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Charger un modèle : il est mappé, pas copié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10312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Disque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.gguf 5,9 Go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697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37560" y="16459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645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cache de l'OS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(RAM « buff/cache »)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6560" y="16459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les poids en place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97480" y="1691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mmap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8595360" cy="9144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18104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load_tensors:  CPU model buffer size =     0.00 MiB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zéro copie : les poids restent dans le page cache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85953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3434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en pratique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lancement lent (lecture disque), 2e instantané : le fichier est encore en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top rangent les poids en « buff/cache », pas en « utilisé » : la RAM est bien prise.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fichier dépasse la RAM : relu depuis le disque à chaque token → des minutes par token.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645920"/>
            <a:ext cx="2221992" cy="2240280"/>
          </a:xfrm>
          <a:prstGeom prst="roundRect">
            <a:avLst>
              <a:gd name="adj" fmla="val 4938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18320" y="1810512"/>
            <a:ext cx="2221992" cy="1164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≥ fichier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2945282"/>
            <a:ext cx="1764792" cy="851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change qui possède la mémoire, pas combien il en faut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8320" y="4114800"/>
            <a:ext cx="2221992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92640" y="4343400"/>
            <a:ext cx="1673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-lm / --load-mode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(auto, mmap, mlock…)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 --no-mmap et --mlock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src/llama-mmap.cpp, discussion #638, tools/server/README (-lm) · log mesuré sur le laptop (Spark-X2.5-4B), build 7fe450e.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 : 15 GiB → 4,6 GiB, presque la même tête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309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091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à l'original (KLD) : Q8_0 0,001 · Q6_K 0,006 · Q5_K_M 0,011 · Q4_K_M 0,028 · Q3_K_M 0,084 · Q2_K 0,445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178040" y="1325880"/>
            <a:ext cx="446227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52360" y="1554480"/>
            <a:ext cx="391363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poids sont stockés par blocs, avec un facteur d'échelle par bloc : moins de bits par poids.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≈ milliards de paramètres × bits par poids ÷ 8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≈ 4,9 bits → ~0,6 Go par milliard.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est le coude : ÷3,3 en taille pour un écart minime. Sous 3 bits, la qualité s'effondre.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gros modèle quantifié bat un petit modèle entier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13B en Q4_K_M (7,3 Go) &gt; 7B en F16 (13 Go).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tools/perplexity/README (Llama 3 8B, KLD vs F16) · PR #1684 (PPL 5,30 vs 5,91) · Dettmers &amp; Zettlemoyer, arXiv:2212.09720 (« 4-bit is almost universally optimal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lit, decode écrit — pas au même prix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· le prompt d'un coup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tokens du prompt sont traités en parallèle et remplissent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le calcul. Mesure : temps avant le 1er mot (TTFT).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45352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19672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· un token à la fois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: relire tous les poids actifs, produire un score par token possible, tirer au sort.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la bande passante mémoire. Mesure : tok/s.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en decode  ≲  bande passante mémoire  ÷  octets des poids actifs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81728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2194560"/>
                <a:gridCol w="2377440"/>
                <a:gridCol w="2194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CPU (LFM2.5-8B-A1B)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– 35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 à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LAN (Qwen3.8-Flash-Next)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-p 512 -n 128 (laptop, 05/10/2026) · /metrics du serveur (prompt_tokens_seconds, predicted_tokens_seconds).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Mesuré sur ce laptop : le decode lit la mémoire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0" y="1325880"/>
            <a:ext cx="4782312" cy="219456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132320" y="1554480"/>
            <a:ext cx="42336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bande passante effective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: 2,4 Go relus × 14,8 t/s ≈ 38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: ~1,1 Go actifs × 34,6 t/s ≈ 39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CPU ne calcule presque pas : il attend la mémoire.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3703320"/>
            <a:ext cx="4782312" cy="1554480"/>
          </a:xfrm>
          <a:prstGeom prst="roundRect">
            <a:avLst>
              <a:gd name="adj" fmla="val 705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32320" y="3931920"/>
            <a:ext cx="4233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threads ≠ plus vite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threads (P-cores) → 34,6 t/s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threads (+ E-cores) → 26,4 t/s : −24 %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2,4× plus gros, decode 2,3× plus rapide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les poids actifs sont relus.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tg128, -t 6,14, i7-1370P, 30 Go, 05/10/2026 (docs/research/mesures-2026-10-05.md). Octets actifs du MoE : estimation.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 : la mémoire de la conversation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5544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c'est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déjà lu, chaque couche d'attention garde ses clés et valeurs (K, V) : on ne recalcule pas le passé à chaque nouveau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 en entier au démarrage, pour tout -c.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0182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621024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couches × têtes KV × dim tête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× octets × tokens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Llama-3.1-8B : 2×32×8×128×2 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128 Kio/token → 16 Gio à 128k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0" y="1325880"/>
          <a:ext cx="5696712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 se paie en RAM,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l'architecture change tout : de 1,5 à 16 GiB pour la même longueur.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ligne « llama_kv_cache: size = … MiB » des logs llama.cpp (laptop, 05/10/2026). La formule se vérifie à l'octet près sur les deux modèles mesurés.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MoE : la RAM paie le total, la vitesse paie l'actif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token, un routeur choisit quelques experts 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109728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97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2024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8541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5059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15768" y="182880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1129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4164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682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3717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6752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3270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2024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8541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0592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1576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8094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296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7647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4164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682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717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6752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3270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9788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2024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8541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5059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1576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8094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46120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1129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7647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4164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06824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3717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0235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6752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3270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9788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2024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8541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450592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1576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8094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4612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1129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647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4164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0682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7200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176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0235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6752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3270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788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2024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8541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50592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71576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8094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4612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1129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77647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4164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30682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57200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3717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10235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6752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3270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897880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18541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45059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71576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98094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6120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51129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77647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04164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30682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57200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3717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10235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36752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632704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9788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664208" y="2971800"/>
            <a:ext cx="21031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1920240" y="4206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experts dans le modèle du serveur : 10 routés + 1 partagé par token (≈ 2 % actifs)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6583680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6583680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 B</a:t>
            </a:r>
            <a:endParaRPr lang="en-US" sz="3600" dirty="0"/>
          </a:p>
        </p:txBody>
      </p:sp>
      <p:sp>
        <p:nvSpPr>
          <p:cNvPr id="106" name="Text 104"/>
          <p:cNvSpPr/>
          <p:nvPr/>
        </p:nvSpPr>
        <p:spPr>
          <a:xfrm>
            <a:off x="6812280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au total → 111 Go de RAM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9217152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217152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B</a:t>
            </a:r>
            <a:endParaRPr lang="en-US" sz="3600" dirty="0"/>
          </a:p>
        </p:txBody>
      </p:sp>
      <p:sp>
        <p:nvSpPr>
          <p:cNvPr id="109" name="Text 107"/>
          <p:cNvSpPr/>
          <p:nvPr/>
        </p:nvSpPr>
        <p:spPr>
          <a:xfrm>
            <a:off x="9445752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par token → ~36 tok/s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6583680" y="3246120"/>
            <a:ext cx="5056632" cy="1600200"/>
          </a:xfrm>
          <a:prstGeom prst="roundRect">
            <a:avLst>
              <a:gd name="adj" fmla="val 685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1" name="Text 109"/>
          <p:cNvSpPr/>
          <p:nvPr/>
        </p:nvSpPr>
        <p:spPr>
          <a:xfrm>
            <a:off x="6858000" y="3474720"/>
            <a:ext cx="4507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décodage spéculatif (MTP)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propose plusieurs tokens d'avance et les vérifie en une passe : 61 % acceptés, ~2,8 tokens par passe sur le serveur.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13" name="Text 111"/>
          <p:cNvSpPr/>
          <p:nvPr/>
        </p:nvSpPr>
        <p:spPr>
          <a:xfrm>
            <a:off x="868680" y="512064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secret du local en 2026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gros modèles MoE avec peu de paramètres actifs, et beaucoup de RAM.</a:t>
            </a:r>
            <a:endParaRPr lang="en-US" sz="1600" dirty="0"/>
          </a:p>
        </p:txBody>
      </p:sp>
      <p:sp>
        <p:nvSpPr>
          <p:cNvPr id="114" name="Text 112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model card Qwen3.8-Flash-Next (125 B MoE dont 6 B actifs + 51 B embedding n-gram + 4 B MTP) · /v1/models et /metrics du serveur (n_params, spec_decode_*),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Dimensionner avant de télécharger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≈ poids + KV cache + ~0,3 Go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 · contexte réservé (-c) · tampons de calcul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45352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45352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≈ bande passante ÷ poids actifs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73952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Go/s de la mémoire · octets relus par 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72384"/>
            <a:ext cx="49377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 laptop · LFM2.5-8B-A1B Q5_K_M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RAM  = 5,9 + 0,4 (32k) + 0,1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6,4 Go           ✓ sur 30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tok/s ≈ 38 Go/s ÷ ~1,1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35 t/s    ✓ mesuré : 34,6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292608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y tourne bien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16–32 Go, CPU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complétion : MoE de 4–8 B, ~30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64–128 Go, mémoire rapide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 code : MoE de 30 à 120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de la démo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 177 B (6 B actifs), 111 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B2437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25780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au sondage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8B en Q4_K_M ≈ 5 Go de poids — il tient sur votre laptop. S'il est MoE, il y est même rapide.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laptop 05/10/2026 · règles déduites des sources de l'acte (quantize/perplexity README, Databricks « LLM inference performance engineering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Hugging Face à la ligne de log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page de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unsloth/LFM2.5-8B-A1B-GGUF : les quants et leurs tailles, avec la règle Go ≈ B × bits ÷ 8.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download, 397 Mo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Qwen3-0.6B en Q4_K_M, téléchargé pendant la phrase.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llama-cli : lire le log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4 480 MiB pour 373 Mo de poids. Puis -c 4096 : ~450 MiB.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hf download unsloth/Qwen3-0.6B-GGUF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--include "Qwen3-0.6B-Q4_K_M.gguf"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--local-dir /models/Qwen3-0.6B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llama-cli -m …/Qwen3-0.6B-Q4_K_M.gguf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Bonjour -st -v 2&gt;&amp;1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 grep -E "kv_cache|Prompt:"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llama_kv_cache: size = 4480.00 MiB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Prompt: 330.7 t/s | Generation: 97.3 t/s 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12 : la mémoire de la conversation pèse douze fois le modèle.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 · ORCHESTRER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harnais et sa conversation avec le LLM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est une fonction sans état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5740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97480" y="14630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4630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75488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9496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garde rien d'une requête à l'autre. Tout ce qui ressemble à de la mémoire, des outils ou de l'autonomie est fait par le programme autour : le harnais.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243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720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Harnais =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+ outils + mémoire + permissions, autour d'un modèle qui ne fait que compléter du texte.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622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862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 quoi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choisit l'outil et les arguments (du texte)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Jinja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traduit JSON ⇄ texte balisé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 les appels, KV cache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prompts, exécution, contexte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AGENTS.md, skills, permissions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Anatomie d'une requête d'agent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852160" cy="457200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des outils (read, edit, shell…)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852160" cy="384048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 du harnais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58521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128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du projet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96896"/>
            <a:ext cx="5852160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96896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skills (nom + description)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63824"/>
            <a:ext cx="5852160" cy="329184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6382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environnement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585216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930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question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877056"/>
            <a:ext cx="5852160" cy="1143000"/>
          </a:xfrm>
          <a:prstGeom prst="rect">
            <a:avLst/>
          </a:prstGeom>
          <a:solidFill>
            <a:srgbClr val="EAF0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877056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+ résultats d'outils (grossit à chaque tour)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1371600"/>
            <a:ext cx="14630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stable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3877056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0" y="1371600"/>
            <a:ext cx="3639312" cy="1828800"/>
          </a:xfrm>
          <a:prstGeom prst="roundRect">
            <a:avLst>
              <a:gd name="adj" fmla="val 60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01000" y="1536192"/>
            <a:ext cx="3639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~10 000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229600" y="2432304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envoyés avant même votre question (1er tour, mesuré)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01000" y="3383280"/>
            <a:ext cx="3639312" cy="1645920"/>
          </a:xfrm>
          <a:prstGeom prst="roundRect">
            <a:avLst>
              <a:gd name="adj" fmla="val 666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01000" y="3547872"/>
            <a:ext cx="3639312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~3 800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29600" y="4337914"/>
            <a:ext cx="3182112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rien que pour décrire 49 skills installées (mesure du 05/10)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3492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d'AGENTS.md, chaque skill installée, chaque outil MCP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payé à chaque tour.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base locale d'OpenCode v2.0.21 (tokens.input au 1er tour : 9 492 – 9 653 dans ce repo ; skill-guidance 15 203 caractères ≈ 3 800 tokens, estimation 4 car./token).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tool calling, c'est du texte et un parser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309360" cy="4846320"/>
          </a:xfrm>
          <a:prstGeom prst="roundRect">
            <a:avLst>
              <a:gd name="adj" fmla="val 1509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5852160" cy="455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&lt;|im_start|&gt;system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&lt;tools&gt;{"name": "read", "parameters": …}&lt;/tools&gt;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…You are an AI agent running in OpenCode…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Corrige le test qui échoue dans calc.py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&lt;think&gt;Je dois d'abord lire calc.py.&lt;/think&gt;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&lt;function=read&gt;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&lt;parameter=path&gt;calc.py&lt;/parameter&gt;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&lt;/function&gt;&lt;/tool_call&gt;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&lt;tool_response&gt;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   return a - 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&lt;/tool_response&gt;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178040" y="1371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780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99248" y="13350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envoie tools (schémas JSON)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78040" y="19202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1780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99248" y="1883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template les écrit dans le prompt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78040" y="24688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99248" y="24323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génère &lt;tool_call&gt;…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99248" y="29809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 parse → tool_calls JSON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356616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exécute l'outil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41148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99248" y="40782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revient en &lt;tool_response&gt;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78040" y="4754880"/>
            <a:ext cx="4462272" cy="1417320"/>
          </a:xfrm>
          <a:prstGeom prst="roundRect">
            <a:avLst>
              <a:gd name="adj" fmla="val 774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52360" y="4983480"/>
            <a:ext cx="3913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Grammaire « lazy » : dès &lt;tool_call&gt;, la sortie est contrainte au schéma.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inconnu → mode Generic, moins fiable.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réel du chat_template.jinja de Qwen3.8-Flash-Next (extraits) · llama.cpp docs/function-calling.md, common/chat.cpp (parser Qwen3-Coder, grammaire lazy).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 — et quand elle s'arrête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rends les tests verts 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889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0" y="2011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80060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03520" y="201168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 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037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2103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20116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011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8116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84080" y="2011680"/>
            <a:ext cx="1856232" cy="914400"/>
          </a:xfrm>
          <a:prstGeom prst="roundRect">
            <a:avLst>
              <a:gd name="adj" fmla="val 1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2011680"/>
            <a:ext cx="1856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shell · edit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69848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3657600"/>
            <a:ext cx="66751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02336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846320" y="3703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ajouté à l'historique (tronqué), puis on renvoie tout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 flipV="1">
            <a:off x="6080760" y="1417320"/>
            <a:ext cx="0" cy="5486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6364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→ réponse finale, la boucle s'arrête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" y="4507992"/>
            <a:ext cx="3291840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777240" y="5377586"/>
            <a:ext cx="283464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d'outils par réponse (855 tool-calls / 101 stop, mesuré)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069080" y="4343400"/>
            <a:ext cx="7571232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343400" y="4572000"/>
            <a:ext cx="7022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savoir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s'arrête quand le modèle répond sans appel d'outil — pas de limite d'étapes par défaut.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qui rate ses appels d'outils tourne en rond ou s'arrête trop tôt : c'est un critère de choix.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n'est pas dans le modèle : c'est le harnais qui la fait tourner.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OpenCode v2.0.21 (fin de boucle, champ steps optionnel) · mesuré : finish_reason des réponses dans la base locale d'OpenCode.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cache, deuxième acte : le cache de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début du prompt est identique d'un tour à l'autre : llama-server garde son KV cache et ne calcule que la fin.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94,6 %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tokens de prompt servis par le cache du serveur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4256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34256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 → 1 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62856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le 1er mot : 1er tour d'une session vs tours suivants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19872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19872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min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48472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prefill au lieu de ~81 min sans le cache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laptop CPU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~10 000 tokens à ~100 t/s de prefill = ~100 s avant le 1er mot, à chaque nouvelle session.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le serveur : le chat tient sur un laptop, l'agent veut une machine rapide.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5352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19672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touchez pas au début du prompt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ordonne ses blocs du plus stable au plus variable, exprès.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un serveur MCP en cours de session invalide tout le cache.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/metrics du serveur (prompt_tokens_cached_total / total, prompt_seconds_total) · sessions OpenCode (TTFT) · laptop llama-bench pp512.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Brancher OpenCode : une base URL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492240" cy="4754880"/>
          </a:xfrm>
          <a:prstGeom prst="roundRect">
            <a:avLst>
              <a:gd name="adj" fmla="val 153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603504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"providers":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"llama.cpp":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"package": "aisdk:@ai-sdk/openai-compatible",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"settings":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"baseURL": "http://192.168.0.110:8080/v1"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"Qwen3.8-Flash-Next":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"capabilities": { "tools": true, …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"limit": { "context": 262144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60920" y="141732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4173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1920240"/>
            <a:ext cx="6858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75520" y="1417320"/>
            <a:ext cx="1764792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0" y="1417320"/>
            <a:ext cx="1764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192.168.0.110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20" y="2514600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compatible OpenAI, sur le LAN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017520"/>
            <a:ext cx="4279392" cy="3063240"/>
          </a:xfrm>
          <a:prstGeom prst="roundRect">
            <a:avLst>
              <a:gd name="adj" fmla="val 358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35240" y="3246120"/>
            <a:ext cx="37307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points d'attention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capabilities.tools : sinon le modèle n'a pas d'outils.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limit.context : la vraie fenêtre, pour la compaction.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vie : curl …/v1/models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et le harnais ne se connaissent que par cette URL.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~/.config/opencode/opencode.jsonc (extrait, syntaxe OpenCode v2 : providers / package / settings — la doc v1 dit provider / npm / options).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ticket client corrigé par l'agent, 100 % local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symptôme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ticket : « Remise (9 %) — annoncé 10 % », 1,44 € facturés en trop. L'agent reçoit seulement TICKET.md.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enquête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→ pricing.py → tests rouges → edit → tests verts. Le log serveur montre le cache au travail.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puis git diff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passe au vert. Une seule valeur a changé : « il n'a pas deviné, il a mesuré ».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192.168.0.110:8080/metrics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prompt_tokens_total          239 162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prompt_tokens_cached_total 4 212 240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predicted_tokens_seconds        35.9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47548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 M tokens de prompt servis par ce serveur pendant la préparation du talk, </a:t>
            </a:r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94,6 % depuis le cache. Rien n'a quitté le LAN.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 l'agent sans coder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règles du projet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fichier markdown à la racine, injecté dans chaque requête. Court et précis : chaque ligne est payée à chaque tour.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45152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Savoir-faire à la demande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5152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Divulgation progressive : nom + description au départ, le corps quand la tâche s'y prête, les fichiers annexes ensuite.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7344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67344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outils externes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67344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protocole client/serveur : tickets, base de données, navigateur… OpenCode v2 les expose via un catalogue texte + un outil execute.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21208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extension a un coût en contexte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« progressives », 49 descriptions de skills pèsent ~3 800 tokens à chaque session.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agents.md · agentskills.io · spec MCP (révision 2026-07-28) · docs et code OpenCode v2.0.21 (Code Mode, skill-guidance).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une skill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dossier, un fichier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.opencode/skills/explain-file/SKILL.md, frontmatter name + description.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consignes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Structure · Subtilités · Limites. Quinze lignes en tout.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L'invocation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demo/pricing.py » : l'agent voit la skill, la charge, l'applique.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explain-file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Explique un fichier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 code (rôle,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subtilités, limites)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 le fichier en entier.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Rends : 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Subtilités, Limites.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 · EXPLORER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paysage, automne 2026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Open-weights : l'écart s'est fermé… sur les tâches courtes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223760" y="1325880"/>
            <a:ext cx="441655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498080" y="1554480"/>
            <a:ext cx="386791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retenir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partout : 1,5 à 6 B actifs pour 8 à 180 B et plus au total.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hybride, contexte de 256 k à 1 M, modèles livrés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open-weights de tête pèsent 300 B à 2,8 T : pas sur un laptop.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de la démo revendique 62,5 sur SWE-bench Pro : revendication de l'éditeur.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 est saturé ;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tâches longues en terminal, l'écart reste réel.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indépendantes, consultées le 05/10/2026 : swebench.com, Vals.ai (Terminal-Bench 4.0), Artificial Analysis · model card Qwen3.8-Flash-Next (revendication).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 : lisez la bande passante, pas les TOPS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32588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863840" y="1554480"/>
            <a:ext cx="350215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acte 1 : tok/s ≈ bande passante ÷ poids actifs.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officiel llama.cpp : gpt-oss-120b sur DGX Spark → 59 t/s à vide, 43 t/s à 32 k de contexte.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RTX 5090 est la plus rapide, mais 32 Go seulement : les gros MoE n'y tiennent pas.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DRAM est chère en 2026 (TrendForce : +10 à 18 % par trimestre).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agent local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mémoire (≥ 128 Go) et de la bande passante, plutôt que de la puissance de calcul.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Apple Newsroom (08/2026), NVIDIA, llama.cpp benches/dgx-spark, Soothill (Strix Halo, 08/2026), TrendForce (09/2026) · laptop : mesure du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confidentiel — l'inventaire de la journée 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RIEN.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prompts, le code de la démo, les tests, la skill, les correctifs de l'agent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resté sur les machines de cette salle.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vous ce soir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17904"/>
            <a:ext cx="6492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https://github.com/m-max/llm-introduction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llm-introduction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build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llama bash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hf download &lt;modèle&gt; --local-dir /models/&lt;modèle&gt;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llama-server -m /models/&lt;modèle&gt;/&lt;fichier&gt;.gguf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6949440" cy="1280160"/>
          </a:xfrm>
          <a:prstGeom prst="roundRect">
            <a:avLst>
              <a:gd name="adj" fmla="val 857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31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repo contient tout : conteneur llama.cpp, démo avec son bug, skill explain-file, config OpenCode, notes de recherche et mesures.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502152" cy="40233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138160" y="45720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github.com/m-max/llm-introduction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138160" y="4919472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licence MIT</a:t>
            </a:r>
            <a:endParaRPr lang="en-US" sz="1200" dirty="0"/>
          </a:p>
        </p:txBody>
      </p:sp>
      <p:pic>
        <p:nvPicPr>
          <p:cNvPr id="11" name="Image 0" descr="QR code vers https://github.com/m-max/llm-introd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1600200"/>
            <a:ext cx="2834640" cy="2834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 — et si le serveur tient, à une démo improvisée.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: github.com/m-max/llm-introduction · licence MIT · tout est rejouable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 Terminal">
  <a:themeElements>
    <a:clrScheme name="Local Terminal">
      <a:dk1>
        <a:srgbClr val="1B2437"/>
      </a:dk1>
      <a:lt1>
        <a:srgbClr val="FFFFFF"/>
      </a:lt1>
      <a:dk2>
        <a:srgbClr val="5A6B85"/>
      </a:dk2>
      <a:lt2>
        <a:srgbClr val="EAF0F6"/>
      </a:lt2>
      <a:accent1>
        <a:srgbClr val="02C39A"/>
      </a:accent1>
      <a:accent2>
        <a:srgbClr val="028090"/>
      </a:accent2>
      <a:accent3>
        <a:srgbClr val="F5A623"/>
      </a:accent3>
      <a:accent4>
        <a:srgbClr val="1E2761"/>
      </a:accent4>
      <a:accent5>
        <a:srgbClr val="94A7BF"/>
      </a:accent5>
      <a:accent6>
        <a:srgbClr val="BFEFE3"/>
      </a:accent6>
      <a:hlink>
        <a:srgbClr val="028090"/>
      </a:hlink>
      <a:folHlink>
        <a:srgbClr val="5A6B85"/>
      </a:folHlink>
    </a:clrScheme>
    <a:fontScheme name="Local Terminal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llama-local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développement agentique — tout ça tourne chez vous</dc:title>
  <dc:subject>PptxGenJS Presentation</dc:subject>
  <dc:creator>m-max</dc:creator>
  <cp:lastModifiedBy>m-max</cp:lastModifiedBy>
  <cp:revision>1</cp:revision>
  <dcterms:created xsi:type="dcterms:W3CDTF">2026-10-05T16:58:36Z</dcterms:created>
  <dcterms:modified xsi:type="dcterms:W3CDTF">2026-10-05T16:58:36Z</dcterms:modified>
</cp:coreProperties>
</file>