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38a40ad-aacd-d038-5a18-4a3342814a1c}">
          <p14:sldIdLst>
            <p14:sldId id="256"/>
            <p14:sldId id="257"/>
            <p14:sldId id="258"/>
          </p14:sldIdLst>
        </p14:section>
        <p14:section name="Acte 1 — Comprendre" id="{17a94555-deb2-6c2c-d756-251adad4459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cte 2 — Agir" id="{848b0dd9-eed5-cbbe-d092-cf7d165f0975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Acte 3 — Étendre" id="{023c78c9-6bc7-12ed-a6da-74a6c931375a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a14904b-9e64-90bb-57ac-8acc3f4efa9c}">
          <p14:sldIdLst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 = 0,5 (sûr)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#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saute</c:v>
                  </c:pt>
                  <c:pt idx="1">
                    <c:v>dort</c:v>
                  </c:pt>
                  <c:pt idx="2">
                    <c:v>chante</c:v>
                  </c:pt>
                  <c:pt idx="3">
                    <c:v>votate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</c:v>
                </c:pt>
                <c:pt idx="1">
                  <c:v>15</c:v>
                </c:pt>
                <c:pt idx="2">
                  <c:v>5.5</c:v>
                </c:pt>
                <c:pt idx="3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 = 2,0 (créatif)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#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saute</c:v>
                  </c:pt>
                  <c:pt idx="1">
                    <c:v>dort</c:v>
                  </c:pt>
                  <c:pt idx="2">
                    <c:v>chante</c:v>
                  </c:pt>
                  <c:pt idx="3">
                    <c:v>votate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28</c:v>
                </c:pt>
                <c:pt idx="2">
                  <c:v>20</c:v>
                </c:pt>
                <c:pt idx="3">
                  <c:v>12</c:v>
                </c:pt>
              </c:numCache>
            </c:numRef>
          </c:val>
        </c:ser>
        <c:dLbls>
          <c:numFmt formatCode="0.#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l"/>
        <c:majorGridlines>
          <c:spPr>
            <a:ln w="1270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Taille du fichier modèle 8B</c:v>
                </c:pt>
              </c:strCache>
            </c:strRef>
          </c:tx>
          <c:spPr>
            <a:solidFill>
              <a:srgbClr val="5A6B85"/>
            </a:solidFill>
            <a:effectLst/>
          </c:spPr>
          <c:invertIfNegative val="0"/>
          <c:dLbls>
            <c:numFmt formatCode="0.0&quot; Go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FP16 (brut)</c:v>
                  </c:pt>
                  <c:pt idx="1">
                    <c:v>Q8_0</c:v>
                  </c:pt>
                  <c:pt idx="2">
                    <c:v>Q5_K_M (le nôtre)</c:v>
                  </c:pt>
                  <c:pt idx="3">
                    <c:v>Q4_K_M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8.6</c:v>
                </c:pt>
                <c:pt idx="2">
                  <c:v>6</c:v>
                </c:pt>
                <c:pt idx="3">
                  <c:v>4.8</c:v>
                </c:pt>
              </c:numCache>
            </c:numRef>
          </c:val>
        </c:ser>
        <c:dLbls>
          <c:numFmt formatCode="0.0&quot; Go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Annoncer le cadre : 1 h, questions pendant les lives ou en fin. Toutes les démos du jour tournent sur du matériel local — on le prouvera à chaque acte.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(2 min). Sonder la salle pour calibrer le vocabulaire de la suite. Promettre : à la fin, la boîte est ouverte et tout était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Programme (1 min). Insister sur l'alternance théorie/live : chaque acte se termine par une démo réelle sur le matériel de la salle.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la théorie d'abord, quinze minutes, puis le premier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concept fondateur (3 min). Le diagramme : entrée → modèle → distribution → token choisi → re-boucle. Dire : « tout le reste de la présentation ne fait qu'exploiter cette phrase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Tokens (2 min). Montrer les morceaux : le modèle ne voit jamais un mot entier. Enchaîner : « le token, c'est aussi l'unité de la fenêtre de contexte, vue juste après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Paramètres (2 min). Démystifier les chiffres marketing. Le pont est posé : des nombres → moins de précision → CPU. La quantification arrive en fin d'acte.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Contexte (2 min). Le dessin « tiroirs » : tout ce qui est payé à chaque tour. Concept mis en banque : il ressort à l'acte 2 (budget de contexte) et au KV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Sampling (2 min). « votate » n'existe pas — c'est le but : à température haute, un token absurde devient crédible. Le lien avec l'hallucination est fait pour la slide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Hallucinations (2 min). Pas moraliser : expliquer structurellement. La conclusion est la porte vers l'agentique : les tests et les outils sont la réponse outillée au problème probabilitaire.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Entraînement (2 min). Survol — pas de maths. Important : distinguer le modèle brut (complète) du modèle instruct (obéit), et situer ce qu'on télécharge.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Quantification (3 min). LE pont vers le local : c'est ce qui rend la suite possible. Valeur Q5 mesurée sur disque (6,0 Go), les autres approximatives pour un 8B. Annoncer le live : « on va en télécharger un, là, maintenant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1 (5-7 min). Script détaillé : presentation/SCENARIOS.md. Messages : un LLM se télécharge comme un paquet ; il tourne sur un CPU. Filet : captures HF + terminal si le réseau tombe.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« ça discute — on l'a vu. Mais un chat ne développe rien. Ce qui manque : la boucle.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boucle (3 min). LE diagramme du talk — le dessiner du doigt à l'écran. Insister : le LLM ne change pas, c'est le montage autour qui fait un agent. Le critère mesurable (tests) prépare le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calling (2-3 min). Montrer le JSON : c'est exactement ce qui défilera au live 2. La mise en garde est honnête et crédibilise : les capacités de tool calling varient beaucoup entre modèles.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Contexte ressource rare (2-3 min). La barre : le budget réel d'un agent en pleine tâche. C'est LE conseil pratique de l'acte — les gens peuvent l'appliquer dès demain avec n'importe quel harnais.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KV cache (2 min). Payer la banque d'acte 1 : la fenêtre a un coût mémoire. Les deux stats sont mesurées sur NOTRE matériel (35 tok/s au benchmark API) — pas des chiffres brochure.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Branchement (2 min). Démystifier l'intégration : pas d'SDK maison, pas de compte — une URL. C'est LE slide « je peux faire pareil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2 (10-12 min). Le moment clé. Script détaillé dans SCENARIOS.md. Ne PAS révéler le bug avant le git diff final. Punchline méta : cette présentation elle-même a été écrite par un agent sur ce modèle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l'agent sait lire, éditer, exécuter. Comment lui apprendre NOS façons de faire, sans re-entraîner quoi que ce soit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(2-3 min). Montrer le VRAI fichier de la démo. Le point qui claque pour des devs : c'est du markdown versionné, pas de la config propriétaire.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3 (5 min). Frappe en direct — si ça dérape, git checkout de la version committée (déjà faite, cf. repo). Vérifié : OpenCode détecte la skill sans redémarrage.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(2 min, survol). L'analogie USB suffit pour une session d'une heure. Message : outiller un agent sur VOS systèmes est un problème résolu, pas une usine à gaz à réinventer.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Paysage (2 min). Ne pas faire la guerre des cloches : le critère qui compte pour CE public est la colonne locale. Statuts à revérifier la veille — l'écosystème bouge vite.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Frameworks (2 min). Dégonfler l'anxiété technique : on n'a PAS besoin de LangChain pour coder avec un agent. Distinguer construire un produit agentique vs développer avec un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(2 min). Une minute par modèle. Si le public ne retient que ces trois phrases, le talk a réussi.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Punchline (1-2 min). Laisser le mot « RIEN » seul à l'écran. Rappel discret du hook d'ouverture : « ce que vous collez dans un chat cloud, aujourd'hui, n'est jamais sorti d'ici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 (1-2 min). Le QR mène au repo public — LE cadeau. Insister : la démo est rejouable chez soi, bug compris.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Rester disponible pour prolonger les lives à la demande (« et si on essayait avec VOTRE projet ?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TITR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DIVISEUR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V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LIVE · 1 HEURE · ZÉRO CLOUD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&amp; développement agentique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modèles de bout en bout — et les faire tourner chez soi.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m-max · octobre 2026 · un laptop, un serveur CPU, aucun cloud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appuyez sur Entrée.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23957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 passe-t-il, </a:t>
            </a:r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vraiment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utilisez un LLM tous les jours. Aujourd'hui, on ouvre la boîte.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48056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43000" y="47091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main levée :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code avec un assistant IA ? · Qui sait ce qu'est un token ? · Qui a déjà fait tourner un modèle chez soi ?</a:t>
            </a:r>
            <a:endParaRPr lang="en-US" sz="16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programme : comprendre, agir, étendre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Comprendre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LLM, vraiment : tokens, contexte, sampling, quantification. Et on en télécharge un en direct.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70832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90872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90872" y="2103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Agir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90872" y="278892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développement agentique : la boucle, les outils. Un agent corrige un vrai bug, branché sur un modèle local.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3024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13064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13064" y="2103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Étendre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513064" y="278892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MCP, paysage des harnais. On écrit une skill en direct et on l'invoque.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et à chaque acte, une démonstration en direct. À la fin : tout ça tourne chez vous.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 · COMPRENDRE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Comprendre un LLM, vraiment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LLM prédit le token suivant. C'est tout.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737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chat noir 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31720" y="19659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926080" y="1481328"/>
            <a:ext cx="2286000" cy="960120"/>
          </a:xfrm>
          <a:prstGeom prst="roundRect">
            <a:avLst>
              <a:gd name="adj" fmla="val 11429"/>
            </a:avLst>
          </a:prstGeom>
          <a:solidFill>
            <a:srgbClr val="1B2437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4813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8 000 000 000 poids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57800" y="19659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852160" y="1234440"/>
            <a:ext cx="283464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0" name="Shape 8"/>
          <p:cNvSpPr/>
          <p:nvPr/>
        </p:nvSpPr>
        <p:spPr>
          <a:xfrm>
            <a:off x="6035040" y="137160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saute  68 %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810512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8105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dort  19 %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2249424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224942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chante  7 %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732520" y="19659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326880" y="173736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0" y="1737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saute 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30632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token choisi est ajouté à l'entrée, et le modèle recommence. Token après token. Il ne « sait » rien d'autre que prédire la suite la plus probable.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589520" y="3063240"/>
            <a:ext cx="4023360" cy="2743200"/>
          </a:xfrm>
          <a:prstGeom prst="roundRect">
            <a:avLst>
              <a:gd name="adj" fmla="val 4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882128" y="331012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important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Pas de base de connaissances : des probabilités apprises.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Une réponse = des milliers d'appels du même moteur.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Toute la suite de la session repose sur cette phrase.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token : la monnaie du modèle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développeur comprend » vu par le modèle 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8696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28800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ĠLe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636776" y="1828800"/>
            <a:ext cx="886968" cy="457200"/>
          </a:xfrm>
          <a:prstGeom prst="roundRect">
            <a:avLst>
              <a:gd name="adj" fmla="val 20000"/>
            </a:avLst>
          </a:prstGeom>
          <a:solidFill>
            <a:srgbClr val="EAF0F6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6776" y="1828800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Ġd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24912" y="1828800"/>
            <a:ext cx="88696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24912" y="1828800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éve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13048" y="1828800"/>
            <a:ext cx="758952" cy="457200"/>
          </a:xfrm>
          <a:prstGeom prst="roundRect">
            <a:avLst>
              <a:gd name="adj" fmla="val 20000"/>
            </a:avLst>
          </a:prstGeom>
          <a:solidFill>
            <a:srgbClr val="EAF0F6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3048" y="1828800"/>
            <a:ext cx="75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73168" y="1828800"/>
            <a:ext cx="101498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73168" y="1828800"/>
            <a:ext cx="1014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peur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EAF0F6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18288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Ġcom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33488" y="18288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33488" y="18288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prend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2697480"/>
            <a:ext cx="5577840" cy="3017520"/>
          </a:xfrm>
          <a:prstGeom prst="roundRect">
            <a:avLst>
              <a:gd name="adj" fmla="val 363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41248" y="2944368"/>
            <a:ext cx="50292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ordres de grandeur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≈ 4 caractères = 1 token en anglais.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français coûte 20-30 % de tokens de plus.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« développeur » → « d » + « éve » + « lopeur » : le modèle ne voit pas des mots, des morceaux.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Facturation, fenêtre de contexte, lenteur : tout se compte en tokens.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0" y="269748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93408" y="2971800"/>
            <a:ext cx="4663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Chez vous aussi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petit modèle du live n'a pas de mot « français » : il a des morceaux de français, appris comme les autres. La langue n'est pas une option de compilation.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8B paramètres », ça veut dire quoi 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8 000 000 000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appris pendant l'entraînement — c'est tout ce qu'est le « cerveau 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5486400" cy="2377440"/>
          </a:xfrm>
          <a:prstGeom prst="roundRect">
            <a:avLst>
              <a:gd name="adj" fmla="val 4615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374904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Chaque token qui traverse le modèle est multiplié contre ces nombres, couche après couche.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code du modèle est ouvert ; ce qui compte, ce sont les poids — de vrais fichiers, téléchargeables.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554480"/>
            <a:ext cx="5120640" cy="4343400"/>
          </a:xfrm>
          <a:prstGeom prst="roundRect">
            <a:avLst>
              <a:gd name="adj" fmla="val 252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84848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directe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poids est un nombre, pas un circuit : il peut être calculé par un CPU. Avec moins de précision (quantification, juste après), un 8 milliards de poids tient sur un laptop.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= un modèle de « poche ». Les modèles frontieres en font 10 à 100 fois plus — là, il faut une salle de serveurs.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fenêtre de contexte : sa mémoire de travail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4008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9050">
            <a:solidFill>
              <a:srgbClr val="1B24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00200"/>
            <a:ext cx="6035040" cy="502920"/>
          </a:xfrm>
          <a:prstGeom prst="rect">
            <a:avLst/>
          </a:prstGeom>
          <a:solidFill>
            <a:srgbClr val="1B243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système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603504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21284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/ règles du projet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62656"/>
            <a:ext cx="6035040" cy="9144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962656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versés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986784"/>
            <a:ext cx="603504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986784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 la conversation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5422392"/>
            <a:ext cx="6035040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42239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question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0" y="1417320"/>
            <a:ext cx="4297680" cy="4480560"/>
          </a:xfrm>
          <a:prstGeom prst="roundRect">
            <a:avLst>
              <a:gd name="adj" fmla="val 255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607808" y="1691640"/>
            <a:ext cx="3749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implique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modèle ne « retient » rien entre deux sessions : tout doit tenir dans la fenêtre.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Plus la conversation grossit, moins il reste de place pour le code.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Ordres de grandeur : 8k (2023) → 128k → 262k chez nous.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contexte est une ressource rare → acte 2.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température : un dé plus ou moins pipé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5836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98080" y="1463040"/>
            <a:ext cx="4114800" cy="4297680"/>
          </a:xfrm>
          <a:prstGeom prst="roundRect">
            <a:avLst>
              <a:gd name="adj" fmla="val 266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790688" y="1737360"/>
            <a:ext cx="35661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graphique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 basse : le modèle écrase sa confiance sur un seul token. Répétable, ennuyeux, prévisible.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 haute : la distribution s'aplatit — « votate » devient possible.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 = 0 : purement déterministe (le même token à chaque fois).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à produire : température basse. Poésie : haute.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L'hallucination n'est pas un bug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41248" y="169164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modèle fait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Prolonger le plausible. « API la plus probable après cette phrase » ≠ « API qui existe ».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63640" y="141732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56248" y="169164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n'a pas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 « je vérifie ». Pas de base de faits à consulter, pas de signal de certitude fiable.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800600"/>
            <a:ext cx="11201400" cy="1143000"/>
          </a:xfrm>
          <a:prstGeom prst="roundRect">
            <a:avLst>
              <a:gd name="adj" fmla="val 8000"/>
            </a:avLst>
          </a:prstGeom>
          <a:solidFill>
            <a:srgbClr val="1B243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80060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la doctrine 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demande pas au modèle d'être sûr, on lui donne de quoi vérifier — tests, compilateur, outils. C'est tout l'acte 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on fabrique un LLM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8288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Pré-training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billions de pages du web. Objectif unique : prédire le token suivant. Naît un modèle qui « parle », mais qui finit tout.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69080" y="3154680"/>
            <a:ext cx="30175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70832" y="15544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45152" y="18288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SFT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45152" y="233172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sur conversations exemplaires : on lui apprend le format question → réponse, les outils, le ton.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891272" y="3154680"/>
            <a:ext cx="30175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93024" y="15544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67344" y="18288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Alignement (RLHF)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467344" y="233172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humains comparent des réponses ; le modèle apprend à préférer ce qui est utile et honnête.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« instruct » que vous téléchargez a passé les trois étapes. Le pré-training coûte des millions ; les deux autres, des semaines. Vous, vous prenez le résultat.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quantification : 16 Go → 6 Go, presque la même tête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315200" y="1463040"/>
            <a:ext cx="4297680" cy="4206240"/>
          </a:xfrm>
          <a:prstGeom prst="roundRect">
            <a:avLst>
              <a:gd name="adj" fmla="val 260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607808" y="173736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triangle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· Vitesse · Qualité : en réduire un paye les autres.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Q4-Q5 : la perte de qualité est faible pour un gain énorme en mémoire et vitesse CPU.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GGUF = le format de llama.cpp, avec les variantes de quantification alignées sur la RAM dispo.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Q5_K_M de la slide : 6,0 Go mesurés sur le disque du serveur.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Hugging Face &amp; llama.cpp, en direct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7980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page du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21868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huggingface.co/unsloth/LFM2.5-8B-A1B-GGUF : les fichiers GGUF par quantification, comme vu slide précédente.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0690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403250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download, en direct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453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télécharge un petit modèle (~400 Mo) devant vous. Le temps de ma phrase.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7980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llama-cli répond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321868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CPU du laptop. Pas de clé API, pas de facture, pas de réseau — sauf pour le téléchargement.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4206240"/>
            <a:ext cx="5029200" cy="1234440"/>
          </a:xfrm>
          <a:prstGeom prst="roundRect">
            <a:avLst>
              <a:gd name="adj" fmla="val 7407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3434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hf download unsloth/LFM2.5-8B-A1B-GGUF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--include "...UD-Q5_K_M.gguf*"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--local-dir /models/LFM2.5-8B-A1B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024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 · AGIR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Développement agentique : les harnais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chat à l'agent : la boucle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rends les tests verts 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0" y="3200400"/>
            <a:ext cx="5029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2743200"/>
            <a:ext cx="1828800" cy="914400"/>
          </a:xfrm>
          <a:prstGeom prst="roundRect">
            <a:avLst>
              <a:gd name="adj" fmla="val 50000"/>
            </a:avLst>
          </a:prstGeom>
          <a:solidFill>
            <a:srgbClr val="1B2437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7432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166360" y="3200400"/>
            <a:ext cx="5029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715000" y="27432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1500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· edit · read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0" y="3200400"/>
            <a:ext cx="5029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321040" y="27432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 vraiment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26880" y="3703320"/>
            <a:ext cx="0" cy="9144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0" y="4617720"/>
            <a:ext cx="-54864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4617720"/>
            <a:ext cx="0" cy="-10058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4754880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(sortie des tests, contenu du fichier…)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78440" y="26700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finale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332720" y="3200400"/>
            <a:ext cx="6400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530352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L'innovation n'est pas dans le LLM — c'est le même moteur qu'à l'acte 1. </a:t>
            </a:r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dans la boucle : un modèle + des outils + un critère de réussite mesurable.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calling : appuyer sur des boutons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harnais déclare ses outils (schéma JSON) ; le modèle ne renvoie pas du texte libre, mais un appel structuré 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6583680" cy="2286000"/>
          </a:xfrm>
          <a:prstGeom prst="roundRect">
            <a:avLst>
              <a:gd name="adj" fmla="val 3200"/>
            </a:avLst>
          </a:prstGeom>
          <a:solidFill>
            <a:srgbClr val="10182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249424"/>
            <a:ext cx="612648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"bash",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"command": "python3 -m unittest"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406640" y="2103120"/>
            <a:ext cx="4206240" cy="2286000"/>
          </a:xfrm>
          <a:prstGeom prst="roundRect">
            <a:avLst>
              <a:gd name="adj" fmla="val 48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99248" y="23317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n'exécute rien.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harnais qui lance la commande, récupère la sortie et la réinjecte dans le contexte du tour suivant.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7091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70916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modèles n'y arrivent pas aussi bien. Un petit modèle local peut rater ses appels d'outils — c'est un critère de choix, pas un détail. (On vérifie ça au live suivant.)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est la ressource rare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de l'acte 1 : chaque tour repaie toute la fenêtre. Un agent, c'est une conversation qui grossit vite 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377440" cy="822960"/>
          </a:xfrm>
          <a:prstGeom prst="rect">
            <a:avLst/>
          </a:prstGeom>
          <a:solidFill>
            <a:srgbClr val="1B243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système + AGENTS.md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2148840"/>
            <a:ext cx="356616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3017520" y="2148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déclarés + résultats des tours précédents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2148840"/>
            <a:ext cx="2743200" cy="8229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1488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lus (le code !)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235440" y="2148840"/>
            <a:ext cx="219456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0" y="21488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restante pour raisonner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011680"/>
            <a:ext cx="10881360" cy="0"/>
          </a:xfrm>
          <a:prstGeom prst="line">
            <a:avLst/>
          </a:prstGeom>
          <a:noFill/>
          <a:ln w="19050">
            <a:solidFill>
              <a:srgbClr val="1B2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63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 de contexte (262 144 tokens ici)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201400" cy="219456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0233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font les bons harnais (et les bons drivers)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Lisent peu : grep avant lecture complète, extraient plutôt que verser.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Compactent : résument les tours anciens pour libérer de la fenêtre.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Externalisent : notes, fichiers, skills — ce qui doit survivre sort de la conversation.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 AGENTS.md court et précis bat un pavé : chaque ligne est payée à chaque tour.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ça ralentit — et à quelle vitesse ça va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0" cy="4389120"/>
          </a:xfrm>
          <a:prstGeom prst="roundRect">
            <a:avLst>
              <a:gd name="adj" fmla="val 25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737360"/>
            <a:ext cx="5760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KV cache, en une image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ne pas recalculer tout le passé à chaque token, le modèle met en mémoire ses calculs intermédiaires (les clés et valeurs d'attention).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Plus la conversation est longue, plus le cache est gros : il mange la mémoire vive avant la fenêtre théorique.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premier token d'une longue requête est lent (prefill) ; les suivants sont rapides (décode).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 agent qui lit dix fichiers « paye » ces dix fichiers à chaque tour suivant.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69480" y="1463040"/>
            <a:ext cx="4389120" cy="2011680"/>
          </a:xfrm>
          <a:prstGeom prst="roundRect">
            <a:avLst>
              <a:gd name="adj" fmla="val 5455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269480" y="169164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35 tok/s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— llama-server sur CPU, mesuré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269480" y="3703320"/>
            <a:ext cx="4389120" cy="2148840"/>
          </a:xfrm>
          <a:prstGeom prst="roundRect">
            <a:avLst>
              <a:gd name="adj" fmla="val 510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269480" y="393192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262 144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543800" y="4754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de fenêtre sur notre serveur local — de quoi tenir une vraie session agentique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branchement : dix lignes de configuration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035040" cy="3657600"/>
          </a:xfrm>
          <a:prstGeom prst="roundRect">
            <a:avLst>
              <a:gd name="adj" fmla="val 2000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9344"/>
            <a:ext cx="557784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"providers":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"llama.cpp":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"package": "…/openai-compatible",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"settings":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"baseURL":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"http://192.168.0.110:8080/v1"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52120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opencode.jsonc — extrait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040880" y="1920240"/>
            <a:ext cx="2103120" cy="1188720"/>
          </a:xfrm>
          <a:prstGeom prst="roundRect">
            <a:avLst>
              <a:gd name="adj" fmla="val 9231"/>
            </a:avLst>
          </a:prstGeom>
          <a:solidFill>
            <a:srgbClr val="EAF0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0" y="1920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(démo, OpenCode)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89720" y="2514600"/>
            <a:ext cx="6400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875520" y="192024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1B2437"/>
          </a:solidFill>
          <a:ln/>
        </p:spPr>
      </p:sp>
      <p:sp>
        <p:nvSpPr>
          <p:cNvPr id="10" name="Text 8"/>
          <p:cNvSpPr/>
          <p:nvPr/>
        </p:nvSpPr>
        <p:spPr>
          <a:xfrm>
            <a:off x="9875520" y="19202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CPU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192.168.0.110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compatible OpenAI, sur le LAN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3977640"/>
            <a:ext cx="4663440" cy="1828800"/>
          </a:xfrm>
          <a:prstGeom prst="roundRect">
            <a:avLst>
              <a:gd name="adj" fmla="val 6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0" y="42062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cloud, remplacé par :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adresse IP locale. N'importe quel harnais qui parle l'API OpenAI se branche ici — mêmes outils, mêmes usages, données qui ne sortent pas.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OpenCode + modèle local : 3 tests rouges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7980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unittest dans demo/ : 9 tests, 3 échecs. Un bug de facturation. Je ne dis pas où.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160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412394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 travaille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54456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tests sont rouges, rends-les verts. » — lire, diagnostiquer, éditer, revérifier. Commenter les tool calls en direct.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7980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321868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valeur a changé : le palier de remise à 9 % au lieu de 10 %... d'après le code. La docstring, elle, disait la vérité.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4343400"/>
            <a:ext cx="5029200" cy="1463040"/>
          </a:xfrm>
          <a:prstGeom prst="roundRect">
            <a:avLst>
              <a:gd name="adj" fmla="val 7500"/>
            </a:avLst>
          </a:prstGeom>
          <a:solidFill>
            <a:srgbClr val="101828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83680" y="4526280"/>
            <a:ext cx="4526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 qui fait ça tourne sur le serveur local,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35 tokens/s. La session qui a PRÉPARÉ cette présentation aussi.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024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 · ÉTENDRE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Skills, MCP, paysage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skill = un fichier markdown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4206240"/>
          </a:xfrm>
          <a:prstGeom prst="roundRect">
            <a:avLst>
              <a:gd name="adj" fmla="val 1739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9344"/>
            <a:ext cx="539496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explain-file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Explique un fichier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 code (rôle,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subtilités, limites)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Lis le fichier en entier.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Rends : 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Subtilités, Limites.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Moins de 20 lignes.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5760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.opencode/skills/explain-file/SKILL.md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0" y="1463040"/>
            <a:ext cx="4800600" cy="4480560"/>
          </a:xfrm>
          <a:prstGeom prst="roundRect">
            <a:avLst>
              <a:gd name="adj" fmla="val 244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50608" y="1737360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ça marche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harnais liste name + description à l'agent — c'est tout ce qui coûte du contexte au repos.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Quand la situation colle, l'agent charge le corps du fichier et l'applique.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Progressive disclosure : la connaissance est versée à la demande, pas en permanence.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Rien à re-entraîner, rien à déployer. Un fichier. Git-able, partageable, relisible dans dix ans.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une skill en direct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7980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 + SKILL.md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dossier, un fichier, le frontmatter (name + description). On le tape devant vous.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160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412394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consignes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54456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· Structure · Subtilités · Limites. La skill entière fait quinze lignes.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7980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L'invocation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321868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explique demo/pricing.py » — l'agent voit la nouvelle skill, la charge, l'applique.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4343400"/>
            <a:ext cx="5029200" cy="1097280"/>
          </a:xfrm>
          <a:prstGeom prst="roundRect">
            <a:avLst>
              <a:gd name="adj" fmla="val 8333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5262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explique demo/pricing.py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skill: explain-file chargée 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024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: le port USB des outils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09160" y="2743200"/>
            <a:ext cx="2743200" cy="109728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4" name="Text 2"/>
          <p:cNvSpPr/>
          <p:nvPr/>
        </p:nvSpPr>
        <p:spPr>
          <a:xfrm>
            <a:off x="4709160" y="2743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Harnais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(OpenCode…)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55448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544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Git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80760" y="3291840"/>
            <a:ext cx="-4023360" cy="-1453896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892040" y="141732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4173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/ tracker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3291840"/>
            <a:ext cx="-45720" cy="-1591056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52560" y="155448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0" y="15544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données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0760" y="3291840"/>
            <a:ext cx="4114800" cy="-1453896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4400" y="448056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805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80760" y="3291840"/>
            <a:ext cx="-4023360" cy="1472184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470916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47091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d'entreprise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80760" y="3291840"/>
            <a:ext cx="-228600" cy="1700784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52560" y="448056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44805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métier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80760" y="3291840"/>
            <a:ext cx="4114800" cy="1472184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54864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serveur MCP expose des outils ; tous les harnais qui parlent MCP les voient. Standard ouvert, indépendant du vendeur.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paysage des harnais (octobre 2026)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834640"/>
                <a:gridCol w="2468880"/>
                <a:gridCol w="3291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local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+ 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(comme ici)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propriétaire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(serveur compatible)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Codex CLI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(provider custom)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CLI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propriétaire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(cloud d'abord)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VS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6235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↔ IDE, vertical ↔ éditeur étendu : la vraie ligne de partage est la dernière colonne.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Frameworks &amp; standards — sans obligation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3566160"/>
          </a:xfrm>
          <a:prstGeom prst="roundRect">
            <a:avLst>
              <a:gd name="adj" fmla="val 307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73736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d'agents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/ LangGraph · CrewAI · AutoGen · PydanticAI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CONSTRUIRE votre propre agent dans du code : workflows multi-agents, routage, états durables. Pertinent quand vous vendez de l'agentique — pas pour coder au quotidien.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263640" y="1463040"/>
            <a:ext cx="5486400" cy="3566160"/>
          </a:xfrm>
          <a:prstGeom prst="roundRect">
            <a:avLst>
              <a:gd name="adj" fmla="val 307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0" y="173736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ouverts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AGENTS.md · format Agent Skills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conventions, pas des bibliothèques : les outils se conforment, vous changez de harnais sans rien perdre. Ce sont eux qui durent.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5303520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1B243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démarrer, rien de tout ça n'est requis : </a:t>
            </a:r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harnais + un modèle local. Le reste est optionnel.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modèles mentaux à emporter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91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à prédire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token suivant, encore et encore. L'hallucination est structurelle : on outille la vérification, on ne la demande pas au modèle.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70832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45152" y="1691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45152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boucle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45152" y="315468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= LLM + outils + critère mesurable. Le LLM ne change rien ; c'est le montage qui développe.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3024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67344" y="1691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467344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rare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467344" y="315468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token dans la fenêtre est payé à chaque tour. Bien coder avec un agent, c'est gérer ce budget.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confidentiel — l'inventaire de la journée :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RIEN.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prompts, le code de la démo, les tests, la skill, les correctifs de l'agent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resté sur les machines de cette salle.</a:t>
            </a:r>
            <a:endParaRPr lang="en-US" sz="2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Chez vous ce soir — trois commandes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949440" cy="3291840"/>
          </a:xfrm>
          <a:prstGeom prst="roundRect">
            <a:avLst>
              <a:gd name="adj" fmla="val 2222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9344"/>
            <a:ext cx="64922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clone &lt;le repo de cette présentation&gt;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build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llama bash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hf download &lt;modèle&gt; --local-dir /models/&lt;modèle&gt;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llama-cli -m /models/&lt;modèle&gt;/&lt;fichier&gt;.gguf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5166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repo contient tout : </a:t>
            </a:r>
            <a:pPr indent="0" marL="0"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 llama.cpp, la démo avec son bug re-verdissable, la skill explain-file, le plan et les scripts des lives.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38160" y="1554480"/>
            <a:ext cx="32918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B2437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321040" y="1783080"/>
            <a:ext cx="2926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→ repo public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github.com/&lt;vous&gt;/llama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(à générer avant le jour J)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aux questions — et si le serveur tient, à une démo improvisée.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: github.com/&lt;vous&gt;/llama · licence MIT · tout est rejouable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 Terminal">
  <a:themeElements>
    <a:clrScheme name="Local Terminal">
      <a:dk1>
        <a:srgbClr val="1B2437"/>
      </a:dk1>
      <a:lt1>
        <a:srgbClr val="FFFFFF"/>
      </a:lt1>
      <a:dk2>
        <a:srgbClr val="5A6B85"/>
      </a:dk2>
      <a:lt2>
        <a:srgbClr val="EAF0F6"/>
      </a:lt2>
      <a:accent1>
        <a:srgbClr val="02C39A"/>
      </a:accent1>
      <a:accent2>
        <a:srgbClr val="028090"/>
      </a:accent2>
      <a:accent3>
        <a:srgbClr val="F5A623"/>
      </a:accent3>
      <a:accent4>
        <a:srgbClr val="1E2761"/>
      </a:accent4>
      <a:accent5>
        <a:srgbClr val="94A7BF"/>
      </a:accent5>
      <a:accent6>
        <a:srgbClr val="BFEFE3"/>
      </a:accent6>
      <a:hlink>
        <a:srgbClr val="028090"/>
      </a:hlink>
      <a:folHlink>
        <a:srgbClr val="5A6B85"/>
      </a:folHlink>
    </a:clrScheme>
    <a:fontScheme name="Local Terminal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llama-local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développement agentique — tout ça tourne chez vous</dc:title>
  <dc:subject>PptxGenJS Presentation</dc:subject>
  <dc:creator>m-max</dc:creator>
  <cp:lastModifiedBy>m-max</cp:lastModifiedBy>
  <cp:revision>1</cp:revision>
  <dcterms:created xsi:type="dcterms:W3CDTF">2026-10-03T00:05:29Z</dcterms:created>
  <dcterms:modified xsi:type="dcterms:W3CDTF">2026-10-03T00:05:29Z</dcterms:modified>
</cp:coreProperties>
</file>