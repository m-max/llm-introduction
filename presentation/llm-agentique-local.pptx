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4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5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063d96b-5af2-ceb4-1aee-a97bac86c8f3}">
          <p14:sldIdLst>
            <p14:sldId id="256"/>
            <p14:sldId id="257"/>
          </p14:sldIdLst>
        </p14:section>
        <p14:section name="Acte 1 — Exécuter" id="{a580914f-96e2-6190-fd67-a7d2707f315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Acte 2 — Orchestrer" id="{e800f2fb-3ea5-9c5a-3ead-0526e2c500a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Acte 3 — Explorer" id="{03b67408-eb18-83cb-b0b1-b96983c9b2c6}">
          <p14:sldIdLst>
            <p14:sldId id="279"/>
            <p14:sldId id="280"/>
            <p14:sldId id="281"/>
          </p14:sldIdLst>
        </p14:section>
        <p14:section name="Clôture" id="{2eaa803e-0c07-48d2-7f4d-82e25bff2453}">
          <p14:sldIdLst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Taille (GiB) — Llama 3 8B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F16</c:v>
                  </c:pt>
                  <c:pt idx="1">
                    <c:v>Q8_0</c:v>
                  </c:pt>
                  <c:pt idx="2">
                    <c:v>Q6_K</c:v>
                  </c:pt>
                  <c:pt idx="3">
                    <c:v>Q5_K_M</c:v>
                  </c:pt>
                  <c:pt idx="4">
                    <c:v>Q4_K_M</c:v>
                  </c:pt>
                  <c:pt idx="5">
                    <c:v>Q3_K_M</c:v>
                  </c:pt>
                  <c:pt idx="6">
                    <c:v>Q2_K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14.97</c:v>
                </c:pt>
                <c:pt idx="1">
                  <c:v>7.96</c:v>
                </c:pt>
                <c:pt idx="2">
                  <c:v>6.14</c:v>
                </c:pt>
                <c:pt idx="3">
                  <c:v>5.33</c:v>
                </c:pt>
                <c:pt idx="4">
                  <c:v>4.58</c:v>
                </c:pt>
                <c:pt idx="5">
                  <c:v>3.74</c:v>
                </c:pt>
                <c:pt idx="6">
                  <c:v>2.96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Decode (tok/s, 6 threads)</c:v>
                </c:pt>
              </c:strCache>
            </c:strRef>
          </c:tx>
          <c:spPr>
            <a:solidFill>
              <a:srgbClr val="5A6B85"/>
            </a:solidFill>
            <a:effectLst/>
          </c:spPr>
          <c:invertIfNegative val="0"/>
          <c:dLbls>
            <c:numFmt formatCode="0.0&quot; tok/s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Spark-X2.5-4B (dense) · 2,4 GiB</c:v>
                  </c:pt>
                  <c:pt idx="1">
                    <c:v>LFM2.5-8B-A1B (MoE) · 5,9 GiB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14.8</c:v>
                </c:pt>
                <c:pt idx="1">
                  <c:v>34.6</c:v>
                </c:pt>
              </c:numCache>
            </c:numRef>
          </c:val>
        </c:ser>
        <c:dLbls>
          <c:numFmt formatCode="0.0&quot; tok/s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2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KV cache à 128k tokens (GiB)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 GiB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Dense type Llama-3.1-8B (calcul)</c:v>
                  </c:pt>
                  <c:pt idx="1">
                    <c:v>Spark-X2.5-4B (9 couches globales)</c:v>
                  </c:pt>
                  <c:pt idx="2">
                    <c:v>LFM2.5-8B-A1B (6 couches d'attention)</c:v>
                  </c:pt>
                  <c:pt idx="3">
                    <c:v>LFM2.5-8B-A1B, cache q8_0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4.6</c:v>
                </c:pt>
                <c:pt idx="2">
                  <c:v>1.5</c:v>
                </c:pt>
                <c:pt idx="3">
                  <c:v>0.8</c:v>
                </c:pt>
              </c:numCache>
            </c:numRef>
          </c:val>
        </c:ser>
        <c:dLbls>
          <c:numFmt formatCode="0.0&quot; GiB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Meilleur modèle fermé</c:v>
                </c:pt>
              </c:strCache>
            </c:strRef>
          </c:tx>
          <c:spPr>
            <a:solidFill>
              <a:srgbClr val="1B2437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97</c:v>
                </c:pt>
                <c:pt idx="1">
                  <c:v>65</c:v>
                </c:pt>
                <c:pt idx="2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Meilleur open-weights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SWE-bench Verified</c:v>
                  </c:pt>
                  <c:pt idx="1">
                    <c:v>Terminal-Bench 4.0</c:v>
                  </c:pt>
                  <c:pt idx="2">
                    <c:v>Indice Artificial Analysis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96.4</c:v>
                </c:pt>
                <c:pt idx="1">
                  <c:v>39</c:v>
                </c:pt>
                <c:pt idx="2">
                  <c:v>46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12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B243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Bande passante mémoire (Go/s)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&quot; Go/s&quot;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B24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B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2437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Laptop du talk (mesuré, effectif)</c:v>
                  </c:pt>
                  <c:pt idx="1">
                    <c:v>Strix Halo · 128 Go (mesuré)</c:v>
                  </c:pt>
                  <c:pt idx="2">
                    <c:v>DGX Spark · 128 Go</c:v>
                  </c:pt>
                  <c:pt idx="3">
                    <c:v>Mac M5 Max · 128 Go</c:v>
                  </c:pt>
                  <c:pt idx="4">
                    <c:v>Mac M5 Ultra · 512 Go</c:v>
                  </c:pt>
                  <c:pt idx="5">
                    <c:v>RTX 5090 · 32 Go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</c:v>
                </c:pt>
                <c:pt idx="1">
                  <c:v>215</c:v>
                </c:pt>
                <c:pt idx="2">
                  <c:v>273</c:v>
                </c:pt>
                <c:pt idx="3">
                  <c:v>614</c:v>
                </c:pt>
                <c:pt idx="4">
                  <c:v>1200</c:v>
                </c:pt>
                <c:pt idx="5">
                  <c:v>1800</c:v>
                </c:pt>
              </c:numCache>
            </c:numRef>
          </c:val>
        </c:ser>
        <c:dLbls>
          <c:numFmt formatCode="0&quot; Go/s&quot;" sourceLinked="0"/>
          <c:txPr>
            <a:bodyPr/>
            <a:lstStyle/>
            <a:p>
              <a:pPr>
                <a:defRPr b="0" i="0" strike="noStrike" sz="1300" u="none">
                  <a:solidFill>
                    <a:srgbClr val="1B24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24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Accueil et hook (3 min). « Vous appuyez sur Entrée : votre code part chez quelqu'un d'autre. Aujourd'hui, la même chose sans que rien ne sorte de la salle — et on regarde ce que fait la machine. » Sondage à main levée : qui code avec un assistant IA ? qui a déjà fait tourner un modèle chez soi ? qui saurait dire si un 8B tient sur son laptop (réponse slide « Dimensionner ») ? Cadre : ~60 min, questions pendant les lives ou à la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Programme (1 min). Chaque acte a son live. Annoncer les deux fils rouges : (1) la mémoire — RAM, bande passante, KV cache — explique presque tout ; (2) la confidentialité, avec une nuance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 de l'acte : qu'est-ce qui se passe entre l'appui sur Entrée et le premier mot ? Chaque étape sera reliée à un réglage et à une mesure. Pas de maths, pas d'entraînement : uniquement ce qui explique la RAM et la vitesse.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carte de l'acte (2 min). Dérouler les six étapes de gauche à droite. Insister sur les deux cases sombres (prefill, decode) : c'est là que se joue la vitesse. La bande verte (KV cache) reviendra deux fois : ici, puis à l'acte 2 comme cache de prompt.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GGUF (2 min). Lire le nom comme une étiquette de supermarché. A1B = environ 1 B de paramètres actifs : c'est ce qui fera la vitesse (slide MoE). Le chat template embarqué est la clé du tool calling à l'acte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Chargement (2 min). Erreur répandue : « mmap permet de faire tourner un modèle plus gros que la RAM ». Faux en pratique : il sera relu depuis le disque à chaque token. La ligne de log 0.00 MiB est la preuve de la zéro-copie. Les anciens tutos parlent de --no-mmap/--mlock : dans la version épinglée, c'est -lm.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Quantification (3 min). Le geste d'achat : prendre Q4_K_M par défaut (c'est aussi le défaut de llama-server -hf), monter en Q5/Q6 si la RAM le permet. La règle Go ≈ B × bpw / 8 permet de répondre à la question du sondage : un 8B en Q4_K_M ≈ 5 Go. Suffixes : _S/_M/_L = tenseurs sensibles en plus haute précision (PR #1684) ; UD-/imatrix = quant calibré (revendication éditeur). Tendance : modèles livrés déjà quantifiés (MXFP4 de gpt-oss, QAT).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slide pivot (3 min). Deux phases, deux goulots. Sur CPU, le prefill n'est que 2 à 4 fois plus rapide que le decode — et non « un à deux ordres de grandeur » comme on le lit (c'est vrai sur GPU). Conséquence, à garder pour l'acte 2 : un agent qui envoie 10 000 tokens de prompt attend longtemps son premier mot sur un CPU.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Preuve (2 min). Deux modèles très différents, une même limite : ~38 Go/s, la bande passante réelle de la RAM de ce laptop. C'est la règle de la slide précédente vérifiée en vrai. Threads : llama.cpp sans -t exclut déjà les E-cores et l'hyperthreading (6 ici) ; ajouter des threads sature la mémoire et ajoute de la synchronisation.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KV cache (3 min). Le K et le V : ce que chaque couche d'attention a calculé pour les tokens passés. La formule est vérifiable : LFM2.5 = 6 couches × 8 têtes × 64 × 2 × 2 o = 12 Kio/token → 384 MiB à 32k, exactement la valeur du log. Les modèles récents réduisent ce coût : moins de têtes KV (GQA), couches sans attention (hybrides conv/SSM), fenêtre glissante. Le cache est réservé au démarrage : pas de surprise en cours de route, mais une grosse réservation si -c est grand. Leviers : -c (ne réserver que ce qu'on utilise : Qwen3-0.6B 4 480 MiB par défaut, ~450 MiB avec -c 4096), -ctk/-ctv q8_0 (÷1,9, le V quantifié exige flash attention, auto), et surtout le choix du modèle. Piège mesuré : llama-server sans option ouvre 4 slots → 163 840 tokens → 17,9 GiB de KV pour un modèle de 373 Mo ; fixer -c et -np 1. Autre piège : --fit (défaut) peut réduire le contexte en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MoE (2 min). Tous les poids doivent être en RAM (le routeur peut choisir n'importe quel expert au token suivant), mais seuls ceux des experts choisis sont relus : la vitesse suit les paramètres actifs. Le serveur de la démo : ~177 B au compteur de llama-server, 111 Go de fichier, mais 6 B actifs. Le décodage spéculatif (têtes MTP) explique une partie des 36 tok/s : ✂ coupable en version 60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Dimensionner (2 min). Les deux formules suffisent pour 90 % des décisions. Le calcul pour le laptop tombe juste sur la mesure. Honnêteté : le chat tient sur un laptop ; l'agent de la démo a besoin d'une machine à ~128 Go — on verra pourquoi à l'acte 2 (le prefill). ✂ Sampling en une ligne si le temps le permet : le serveur applique ses defaults (temperature 1.0, top_p 0.95, min_p 0.05, lus dans /props).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1 (7 min). Script : presentation/SCENARIOS.md. Points à montrer : (1) les tailles sur la page HF ; (2) le téléchargement ; (3) la ligne llama_kv_cache et le breakdown model/context ; (4) la relance avec -c 4096 ; (5) la ligne de timings Prompt/Generation : prefill et decode en vrai. Filet : modèle pré-téléchargé + HF_HUB_OFFLINE=1, captures des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Ça discute, et on sait pourquoi c'est rapide ou lent. Mais un chat ne corrige pas un bug. » Question de l'acte : qu'est-ce qu'un agent envoie au modèle, et pourquoi ça marche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Sans état (2 min). Point fondateur de l'acte : à chaque tour, le harnais renvoie TOUT au modèle. Le tableau « qui fait quoi » est la grille de lecture des slides suivantes.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Anatomie (3 min). L'ordre est l'ordre réel : les outils sont écrits en tête par le template Qwen, puis les blocs du harnais du plus stable au plus variable. Ce n'est pas un hasard : le préfixe stable est ce que le KV cache pourra réutiliser (slide « cache de prompt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 calling (3 min). Le modèle n'appelle rien : il écrit du texte dans un format convenu (ici le XML de Qwen). Le serveur reconnaît ce format, le transforme en tool_calls JSON pour le harnais, et peut même contraindre la génération à rester dans le schéma dès que &lt;tool_call&gt; apparaît. Le résultat de l'outil revient au modèle comme un message utilisateur. C'est pourquoi le choix du modèle ET de son template compte autant que sa taille.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boucle (2 min). LE diagramme du talk, à dessiner du doigt. Montrer la sortie « non » : la seule condition d'arrêt est que le modèle réponde sans demander d'outil. ~8 appels d'outils pour chaque réponse finale : un agent, c'est surtout de la lecture et de l'exécution.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Cache de prompt (3 min). C'est le KV cache de l'acte 1, réutilisé d'une requête à l'autre. Sans lui, chaque tour recalculerait tout le préfixe. Manus en fait « la métrique la plus importante d'un agent en production ». Sur CPU, le premier tour reste douloureux : c'est la vraie raison pour laquelle la démo d'agent tourne sur le serveur. Si question sur la taille du contexte : une session réelle passe de 9,6 k à 191 k tokens (une seule sortie shell : +29 k) ; OpenCode tronque les sorties (2 000 lignes / 50 Ko) et compacte à fenêtre − max(10 %, 16 k) ; sans limit.context dans la config, pas de compaction.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Branchement (2 min). La config réelle, pas un slide marketing : ~30 lignes au total avec les variantes. Attention à la version : OpenCode v2 a changé les clés (providers/package/settings) et ne lit plus CLAUDE.md, seulement AGENTS.md. N'importe quel harnais qui parle l'API OpenAI se branche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2 (10 min). Script : SCENARIOS.md. Ne PAS révéler le bug avant le git diff. Pendant que l'agent travaille, montrer le log serveur : prompt eval time petit (seul le suffixe est recalculé) grâce au cache. Punchline : curl /metrics — chiffres du jour à relever avant la session (compteurs cumulés depuis le démarrage du serveur).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Extensions (2 min). Trois niveaux : des règles toujours présentes (AGENTS.md), du savoir-faire chargé à la demande (skills), des outils externes (MCP). Ironie mesurée sur ce repo : la liste des skills est le premier poste du prompt de base. Annoncer le live 3 : on écrit une skill en direct.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3 (5 min). Rien à redéployer : c'était un fichier. La description est ce que l'agent voit au départ ; le corps n'est chargé qu'à l'usage. Filet : git checkout de la version committée. ✂ Coupable en version 60 min (montrer le fichier committé à la place).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: « Vous avez vu une pile complète : un modèle, un moteur, un harnais. Où en sont les modèles, et sur quoi les faire tourner ? » Tous les chiffres de cet acte sont datés et sourcés dans docs/research/acte3-paysage.md —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Modèles (2 min). Message honnête : sur les benchmarks courts, l'écart a disparu ; sur les tâches agentiques longues, les meilleurs modèles fermés gardent une avance nette. Et les open-weights qui s'en approchent sont énormes. Les chiffres bougent chaque mois : à revérifier la veille.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Matériel (2 min). Le critère n°1 est la bande passante mémoire, et la quantité de mémoire qu'elle sert. Les chiffres constructeur sont théoriques ; le laptop est une mesure effective (le théorique LPDDR5 est autour de 80 Go/s). Prix volatils en 2026 : les donner oralement, à revérifier.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Punchline (1 min). Laisser « RIEN » seul à l'écran. Retour au hook : « ce que vous collez dans un chat cloud n'est, aujourd'hui, jamais sorti d'ici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Take-away (1 min). Le QR mène au repo public. La démo est rejouable chez soi, bug compris, et toutes les mesures du talk sont dans docs/research.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Q&amp;A. Proposer de prolonger les lives à la demande (« et si on essayait sur VOTRE projet ?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TITR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DIVISEUR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LIVE">
    <p:bg>
      <p:bgPr>
        <a:solidFill>
          <a:srgbClr val="1B2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17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LIVE · 60 MIN · ZÉRO CLOUD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&amp; développement agentique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ça tourne chez vous — à condition de savoir où passe la mémoire.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m-max · octobre 2026 · un laptop CPU, un serveur sur le LAN, aucun cloud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programme : exécuter, orchestrer, explorer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68680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68680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Exécuter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68680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entre Entrée et le premier mot : mémoire, quantification, prefill, decode, KV cache.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de Hugging Face à la ligne de log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90872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90872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Orchestrer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690872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qu'un agent envoie au modèle à chaque tour, et pourquoi ça marche : outils, boucle, contexte, cache.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90872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: un agent local corrige un bug · une skill en direct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416052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513064" y="1645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513064" y="20116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513064" y="269748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paysage à l'automne 2026 : où en sont les modèles open-weights, et sur quel matériel les faire tourner.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513064" y="4526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chiffres du jour, sourcés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71500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fils rouges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mémoire est la monnaie · rien ne sort de la salle.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1 · EXÉCUTER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Entrée et le premier mot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étapes entre Entrée et le premier mot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+ métadonnées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choix du quant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21408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450592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50592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Chargement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450592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dans la RAM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450592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taille du fichier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023360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4352544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52544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+ tokens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352544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texte que lit le modèle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52544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chat template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925312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254496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54496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54496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le prompt d'un coup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54496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calcul · 1er mot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27264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8156448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56448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156448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token à la fois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156448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bande passante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29216" y="1988820"/>
            <a:ext cx="310896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10058400" y="1600200"/>
            <a:ext cx="1554480" cy="777240"/>
          </a:xfrm>
          <a:prstGeom prst="roundRect">
            <a:avLst>
              <a:gd name="adj" fmla="val 11765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058400" y="160020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058400" y="2487168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streamé à l'écran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058400" y="30175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tok/s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918704" y="1234440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 boucle : × chaque token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54496" y="3520440"/>
            <a:ext cx="3456432" cy="566928"/>
          </a:xfrm>
          <a:prstGeom prst="roundRect">
            <a:avLst>
              <a:gd name="adj" fmla="val 12903"/>
            </a:avLst>
          </a:prstGeom>
          <a:solidFill>
            <a:srgbClr val="02C39A"/>
          </a:solidFill>
          <a:ln/>
        </p:spPr>
      </p:sp>
      <p:sp>
        <p:nvSpPr>
          <p:cNvPr id="34" name="Text 32"/>
          <p:cNvSpPr/>
          <p:nvPr/>
        </p:nvSpPr>
        <p:spPr>
          <a:xfrm>
            <a:off x="6254496" y="3520440"/>
            <a:ext cx="3456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: rempli par le prefill, relu à chaque token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3520440"/>
            <a:ext cx="53949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ressources, deux limites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RAM : il faut y loger les poids et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bande passante mémoire : le decode relit les poids à chaque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calcul (CPU/GPU) ne limite vraiment que le prefill.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576072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" y="5760720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étape a un réglage et une mesure.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les prend une par une.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fichier GGUF se lit comme une étiquette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LFM2.5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212848" y="1508760"/>
            <a:ext cx="91440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12848" y="1508760"/>
            <a:ext cx="914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8B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121408" y="228600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totaux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36976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6976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A1B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145536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 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(MoE)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443984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43984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352544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 Unsloth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650992" y="1508760"/>
            <a:ext cx="2103120" cy="685800"/>
          </a:xfrm>
          <a:prstGeom prst="roundRect">
            <a:avLst>
              <a:gd name="adj" fmla="val 13333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50992" y="1508760"/>
            <a:ext cx="2103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Q5_K_M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559552" y="22860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bits, mix 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(tenseurs sensibles +)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63840" y="1508760"/>
            <a:ext cx="1097280" cy="685800"/>
          </a:xfrm>
          <a:prstGeom prst="roundRect">
            <a:avLst>
              <a:gd name="adj" fmla="val 13333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863840" y="1508760"/>
            <a:ext cx="1097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.gguf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772400" y="2286000"/>
            <a:ext cx="1280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3017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LFM2.5-8B-A1B-UD-Q5_K_M.gguf · 5,92 GiB sur le disque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2296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Dedans : les poids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milliards de nombres, rangés en tenseurs, déjà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fichier, pensé pour être mappé en mémoire tel quel.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 du fichier ≈ RAM occupée par les poids.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245352" y="3520440"/>
            <a:ext cx="5394960" cy="2423160"/>
          </a:xfrm>
          <a:prstGeom prst="roundRect">
            <a:avLst>
              <a:gd name="adj" fmla="val 4528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519672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et des métadonnées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nombre de couches, contexte d'entraînement.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chat template (Jinja) : comment formater une conversation.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« rien à configurer » : -c 0 lit le contexte du modèle.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spec GGUF (ggml-org/ggml docs/gguf.md) · model card unsloth/LFM2.5-8B-A1B-GGUF · taille : print_info du log llama.cpp.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Charger un modèle : il est mappé, pas copié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10312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459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Disque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.gguf 5,9 Go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697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337560" y="1645920"/>
            <a:ext cx="2743200" cy="1005840"/>
          </a:xfrm>
          <a:prstGeom prst="roundRect">
            <a:avLst>
              <a:gd name="adj" fmla="val 9091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7560" y="16459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cache de l'OS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(RAM « buff/cache »)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214884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766560" y="1645920"/>
            <a:ext cx="237744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16459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llama.cpp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 les poids en place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697480" y="16916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mmap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971800"/>
            <a:ext cx="8595360" cy="914400"/>
          </a:xfrm>
          <a:prstGeom prst="roundRect">
            <a:avLst>
              <a:gd name="adj" fmla="val 8000"/>
            </a:avLst>
          </a:prstGeom>
          <a:solidFill>
            <a:srgbClr val="101828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18104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load_tensors:  CPU model buffer size =     0.00 MiB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zéro copie : les poids restent dans le page cache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8595360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22960" y="4343400"/>
            <a:ext cx="8046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ça change en pratique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lancement lent (lecture disque), 2e instantané : le fichier est encore en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/ top rangent les poids en « buff/cache », pas en « utilisé » : la RAM est bien prise.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fichier dépasse la RAM : relu depuis le disque à chaque token → des minutes par token.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418320" y="1645920"/>
            <a:ext cx="2221992" cy="2240280"/>
          </a:xfrm>
          <a:prstGeom prst="roundRect">
            <a:avLst>
              <a:gd name="adj" fmla="val 4938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18320" y="1810512"/>
            <a:ext cx="2221992" cy="11649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≥ fichier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2945282"/>
            <a:ext cx="1764792" cy="851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mmap change qui possède la mémoire, pas combien il en faut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418320" y="4114800"/>
            <a:ext cx="2221992" cy="2057400"/>
          </a:xfrm>
          <a:prstGeom prst="roundRect">
            <a:avLst>
              <a:gd name="adj" fmla="val 5333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92640" y="4343400"/>
            <a:ext cx="1673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Réglage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-lm / --load-mode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(auto, mmap, mlock…)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remplace --no-mmap et --mlock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src/llama-mmap.cpp, discussion #638, tools/server/README (-lm) · log mesuré sur le laptop (Spark-X2.5-4B), build 7fe450e.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Quantifier : 15 GiB → 4,6 GiB, presque la même tête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3093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470916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à l'original (KLD) : Q8_0 0,001 · Q6_K 0,006 · Q5_K_M 0,011 · Q4_K_M 0,028 · Q3_K_M 0,084 · Q2_K 0,445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178040" y="1325880"/>
            <a:ext cx="446227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452360" y="1554480"/>
            <a:ext cx="391363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poids sont stockés par blocs, avec un facteur d'échelle par bloc : moins de bits par poids.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≈ milliards de paramètres × bits par poids ÷ 8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≈ 4,9 bits → ~0,6 Go par milliard.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Q4_K_M est le coude : ÷3,3 en taille pour un écart minime. Sous 3 bits, la qualité s'effondre.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gros modèle quantifié bat un petit modèle entier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13B en Q4_K_M (7,3 Go) &gt; 7B en F16 (13 Go).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llama.cpp tools/perplexity/README (Llama 3 8B, KLD vs F16) · PR #1684 (PPL 5,30 vs 5,91) · Dettmers &amp; Zettlemoyer, arXiv:2212.09720 (« 4-bit is almost universally optimal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Prefill lit, decode écrit — pas au même prix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Prefill · le prompt d'un coup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tokens du prompt sont traités en parallèle et remplissent le KV cache.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le calcul. Mesure : temps avant le 1er mot (TTFT).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245352" y="1371600"/>
            <a:ext cx="5394960" cy="2148840"/>
          </a:xfrm>
          <a:prstGeom prst="roundRect">
            <a:avLst>
              <a:gd name="adj" fmla="val 5106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19672" y="1600200"/>
            <a:ext cx="48463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· un token à la fois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: relire tous les poids actifs, produire un score par token possible, tirer au sort.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Limité par la bande passante mémoire. Mesure : tok/s.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70332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1B2437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3703320"/>
            <a:ext cx="10469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en decode  ≲  bande passante mémoire  ÷  octets des poids actifs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81728"/>
          <a:ext cx="11091672" cy="914400"/>
        </p:xfrm>
        <a:graphic>
          <a:graphicData uri="http://schemas.openxmlformats.org/drawingml/2006/table">
            <a:tbl>
              <a:tblPr/>
              <a:tblGrid>
                <a:gridCol w="4325112"/>
                <a:gridCol w="2194560"/>
                <a:gridCol w="2377440"/>
                <a:gridCol w="21945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Mesuré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Prefill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Rapport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CPU (LFM2.5-8B-A1B)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– 35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 à 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LAN (Qwen3.8-Flash-Next)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912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× 25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-p 512 -n 128 (laptop, 05/10/2026) · /metrics du serveur (prompt_tokens_seconds, predicted_tokens_seconds).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Mesuré sur ce laptop : le decode lit la mémoire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0350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858000" y="1325880"/>
            <a:ext cx="4782312" cy="2194560"/>
          </a:xfrm>
          <a:prstGeom prst="roundRect">
            <a:avLst>
              <a:gd name="adj" fmla="val 5000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132320" y="1554480"/>
            <a:ext cx="4233672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bande passante effective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: 2,4 Go relus × 14,8 t/s ≈ 38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: ~1,1 Go actifs × 34,6 t/s ≈ 39 Go/s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CPU ne calcule presque pas : il attend la mémoire.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6858000" y="3703320"/>
            <a:ext cx="4782312" cy="1554480"/>
          </a:xfrm>
          <a:prstGeom prst="roundRect">
            <a:avLst>
              <a:gd name="adj" fmla="val 7059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132320" y="3931920"/>
            <a:ext cx="4233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de threads ≠ plus vite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threads (P-cores) → 34,6 t/s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threads (+ E-cores) → 26,4 t/s : −24 %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2,4× plus gros, decode 2,3× plus rapide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seuls les poids actifs sont relus.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: llama-bench tg128, -t 6,14, i7-1370P, 30 Go, 05/10/2026 (docs/research/mesures-2026-10-05.md). Octets actifs du MoE : estimation.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 : la mémoire de la conversation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120640" cy="1965960"/>
          </a:xfrm>
          <a:prstGeom prst="roundRect">
            <a:avLst>
              <a:gd name="adj" fmla="val 558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822960" y="15544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c'est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 déjà lu, chaque couche d'attention garde ses clés et valeurs (K, V) : on ne recalcule pas le passé à chaque nouveau token.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Réservé en entier au démarrage, pour tout -c.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474720"/>
            <a:ext cx="5120640" cy="1737360"/>
          </a:xfrm>
          <a:prstGeom prst="roundRect">
            <a:avLst>
              <a:gd name="adj" fmla="val 4211"/>
            </a:avLst>
          </a:prstGeom>
          <a:solidFill>
            <a:srgbClr val="10182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621024"/>
            <a:ext cx="466344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× couches × têtes KV × dim tête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× octets × tokens</a:t>
            </a:r>
            <a:endParaRPr lang="en-US" sz="1400" dirty="0"/>
          </a:p>
          <a:p>
            <a:pPr algn="l" indent="0" marL="0">
              <a:buNone/>
            </a:pP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Llama-3.1-8B : 2×32×8×128×2 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128 Kio/token → 16 Gio à 128k</a:t>
            </a:r>
            <a:endParaRPr lang="en-US" sz="1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943600" y="1325880"/>
          <a:ext cx="5696712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9" name="Text 6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contexte se paie en RAM,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l'architecture change tout : de 1,5 à 16 GiB pour la même longueur.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ligne « llama_kv_cache: size = … MiB » des logs llama.cpp (laptop, 05/10/2026). La formule se vérifie à l'octet près sur les deux modèles mesurés.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MoE : la RAM paie le total, la vitesse paie l'actif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chaque token, un routeur choisit quelques experts :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697480"/>
            <a:ext cx="109728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9748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routeur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92024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8541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5059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15768" y="182880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8094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1129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7647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4164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0682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837176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02352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67528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32704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897880" y="182880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2024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8541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450592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1576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8094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4612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11296" y="2212848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7647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4164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0682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7176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02352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67528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632704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897880" y="2212848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92024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8541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45059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1576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8094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46120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1129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7647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4164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306824" y="2596896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837176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02352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367528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632704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897880" y="2596896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92024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18541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450592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271576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98094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324612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11296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7647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4164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30682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7200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837176" y="2980944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102352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367528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632704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7880" y="2980944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92024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18541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50592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71576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98094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4612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351129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77647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4164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30682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572000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4837176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102352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367528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632704" y="3364992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897880" y="3364992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2024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218541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45059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271576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298094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246120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51129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77647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04164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4306824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57200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837176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5102352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5367528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5632704" y="3749040"/>
            <a:ext cx="210312" cy="310896"/>
          </a:xfrm>
          <a:prstGeom prst="rect">
            <a:avLst/>
          </a:prstGeom>
          <a:solidFill>
            <a:srgbClr val="02C39A"/>
          </a:solidFill>
          <a:ln w="6350">
            <a:solidFill>
              <a:srgbClr val="02C39A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897880" y="3749040"/>
            <a:ext cx="210312" cy="310896"/>
          </a:xfrm>
          <a:prstGeom prst="rect">
            <a:avLst/>
          </a:prstGeom>
          <a:solidFill>
            <a:srgbClr val="EAF0F6"/>
          </a:solidFill>
          <a:ln w="6350">
            <a:solidFill>
              <a:srgbClr val="C9D4E2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664208" y="2971800"/>
            <a:ext cx="210312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1920240" y="4206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experts dans le modèle du serveur : 10 routés + 1 partagé par token (≈ 2 % actifs)</a:t>
            </a:r>
            <a:endParaRPr lang="en-US" sz="1300" dirty="0"/>
          </a:p>
        </p:txBody>
      </p:sp>
      <p:sp>
        <p:nvSpPr>
          <p:cNvPr id="104" name="Shape 102"/>
          <p:cNvSpPr/>
          <p:nvPr/>
        </p:nvSpPr>
        <p:spPr>
          <a:xfrm>
            <a:off x="6583680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5" name="Text 103"/>
          <p:cNvSpPr/>
          <p:nvPr/>
        </p:nvSpPr>
        <p:spPr>
          <a:xfrm>
            <a:off x="6583680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 B</a:t>
            </a:r>
            <a:endParaRPr lang="en-US" sz="3600" dirty="0"/>
          </a:p>
        </p:txBody>
      </p:sp>
      <p:sp>
        <p:nvSpPr>
          <p:cNvPr id="106" name="Text 104"/>
          <p:cNvSpPr/>
          <p:nvPr/>
        </p:nvSpPr>
        <p:spPr>
          <a:xfrm>
            <a:off x="6812280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paramètres au total → 111 Go de RAM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9217152" y="1325880"/>
            <a:ext cx="2423160" cy="1691640"/>
          </a:xfrm>
          <a:prstGeom prst="roundRect">
            <a:avLst>
              <a:gd name="adj" fmla="val 6486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08" name="Text 106"/>
          <p:cNvSpPr/>
          <p:nvPr/>
        </p:nvSpPr>
        <p:spPr>
          <a:xfrm>
            <a:off x="9217152" y="1490472"/>
            <a:ext cx="2423160" cy="8796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B</a:t>
            </a:r>
            <a:endParaRPr lang="en-US" sz="3600" dirty="0"/>
          </a:p>
        </p:txBody>
      </p:sp>
      <p:sp>
        <p:nvSpPr>
          <p:cNvPr id="109" name="Text 107"/>
          <p:cNvSpPr/>
          <p:nvPr/>
        </p:nvSpPr>
        <p:spPr>
          <a:xfrm>
            <a:off x="9445752" y="2307031"/>
            <a:ext cx="1965960" cy="6428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par token → ~36 tok/s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6583680" y="3246120"/>
            <a:ext cx="5056632" cy="1600200"/>
          </a:xfrm>
          <a:prstGeom prst="roundRect">
            <a:avLst>
              <a:gd name="adj" fmla="val 685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1" name="Text 109"/>
          <p:cNvSpPr/>
          <p:nvPr/>
        </p:nvSpPr>
        <p:spPr>
          <a:xfrm>
            <a:off x="6858000" y="3474720"/>
            <a:ext cx="4507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: décodage spéculatif (MTP)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propose plusieurs tokens d'avance et les vérifie en une passe : 61 % acceptés, ~2,8 tokens par passe sur le serveur.</a:t>
            </a:r>
            <a:endParaRPr lang="en-US" sz="1300" dirty="0"/>
          </a:p>
        </p:txBody>
      </p:sp>
      <p:sp>
        <p:nvSpPr>
          <p:cNvPr id="112" name="Shape 110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13" name="Text 111"/>
          <p:cNvSpPr/>
          <p:nvPr/>
        </p:nvSpPr>
        <p:spPr>
          <a:xfrm>
            <a:off x="868680" y="512064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secret du local en 2026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gros modèles MoE avec peu de paramètres actifs, et beaucoup de RAM.</a:t>
            </a:r>
            <a:endParaRPr lang="en-US" sz="1600" dirty="0"/>
          </a:p>
        </p:txBody>
      </p:sp>
      <p:sp>
        <p:nvSpPr>
          <p:cNvPr id="114" name="Text 112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model card Qwen3.8-Flash-Next (125 B MoE dont 6 B actifs + 51 B embedding n-gram + 4 B MTP) · /v1/models et /metrics du serveur (n_params, spec_decode_*),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Dimensionner avant de télécharger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RAM ≈ poids + KV cache + ~0,3 Go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77240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.gguf · contexte réservé (-c) · tampons de calcul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45352" y="1325880"/>
            <a:ext cx="5394960" cy="1417320"/>
          </a:xfrm>
          <a:prstGeom prst="roundRect">
            <a:avLst>
              <a:gd name="adj" fmla="val 7742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245352" y="1490472"/>
            <a:ext cx="539496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tok/s ≈ bande passante ÷ poids actifs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73952" y="2147926"/>
            <a:ext cx="4937760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Go/s de la mémoire · octets relus par token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260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072384"/>
            <a:ext cx="49377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Ce laptop · LFM2.5-8B-A1B Q5_K_M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RAM  = 5,9 + 0,4 (32k) + 0,1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6,4 Go           ✓ sur 30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tok/s ≈ 38 Go/s ÷ ~1,1 Go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≈ 35 t/s    ✓ mesuré : 34,6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292608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 qui y tourne bien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16–32 Go, CPU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Chat, complétion : MoE de 4–8 B, ~30 t/s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64–128 Go, mémoire rapide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 code : MoE de 30 à 120 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Serveur de la démo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MoE 177 B (6 B actifs), 111 Go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0526"/>
            </a:avLst>
          </a:prstGeom>
          <a:solidFill>
            <a:srgbClr val="1B2437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5257800"/>
            <a:ext cx="10469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Réponse au sondage :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8B en Q4_K_M ≈ 5 Go de poids — il tient sur votre laptop. S'il est MoE, il y est même rapide.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Mesures laptop 05/10/2026 · règles déduites des sources de l'acte (quantize/perplexity README, Databricks « LLM inference performance engineering »).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Hugging Face à la ligne de log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une page de modèle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unsloth/LFM2.5-8B-A1B-GGUF : les quants et leurs tailles, avec la règle Go ≈ B × bits ÷ 8.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hf download, 397 Mo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Qwen3-0.6B en Q4_K_M, téléchargé pendant la phrase.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llama-cli : lire le log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 cache 4 480 MiB pour 373 Mo de poids. Puis -c 4096 : ~450 MiB.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560320"/>
          </a:xfrm>
          <a:prstGeom prst="roundRect">
            <a:avLst>
              <a:gd name="adj" fmla="val 2857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hf download unsloth/Qwen3-0.6B-GGUF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--include "Qwen3-0.6B-Q4_K_M.gguf"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--local-dir /models/Qwen3-0.6B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llama-cli -m …/Qwen3-0.6B-Q4_K_M.gguf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-p Bonjour -st -v 2&gt;&amp;1 \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| grep -E "kv_cache|Prompt:"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llama_kv_cache: size = 4480.00 MiB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Prompt: 330.7 t/s | Generation: 97.3 t/s 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309360" y="53492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12 : la mémoire de la conversation pèse douze fois le modèle.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2 · ORCHESTRER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harnais et sa conversation avec le LLM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modèle est une fonction sans état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05740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697480" y="1463040"/>
            <a:ext cx="2011680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97480" y="146304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4754880" y="1965960"/>
            <a:ext cx="59436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94960" y="1600200"/>
            <a:ext cx="1463040" cy="731520"/>
          </a:xfrm>
          <a:prstGeom prst="roundRect">
            <a:avLst>
              <a:gd name="adj" fmla="val 125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0" y="160020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274320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ne garde rien d'une requête à l'autre. Tout ce qui ressemble à de la mémoire, des outils ou de l'autonomie est fait par le programme autour : le harnais.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1B2437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72000"/>
            <a:ext cx="10469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Harnais = </a:t>
            </a:r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boucle + outils + mémoire + permissions, autour d'un modèle qui ne fait que compléter du texte.</a:t>
            </a:r>
            <a:endParaRPr lang="en-US" sz="17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371600"/>
          <a:ext cx="4462272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8620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Fait quoi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43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Modèle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choisit l'outil et les arguments (du texte)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Template Jinja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traduit JSON ⇄ texte balisé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llama-server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parse les appels, KV cache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Harnais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prompts, exécution, contexte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4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AGENTS.md, skills, permissions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3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Anatomie d'une requête d'agent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5852160" cy="457200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Schémas des outils (read, edit, shell…)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852160" cy="384048"/>
          </a:xfrm>
          <a:prstGeom prst="rect">
            <a:avLst/>
          </a:prstGeom>
          <a:solidFill>
            <a:srgbClr val="1B24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82880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système du harnais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212848"/>
            <a:ext cx="5852160" cy="38404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1284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AGENTS.md du projet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596896"/>
            <a:ext cx="5852160" cy="566928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596896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 des skills (nom + description)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163824"/>
            <a:ext cx="5852160" cy="329184"/>
          </a:xfrm>
          <a:prstGeom prst="rect">
            <a:avLst/>
          </a:prstGeom>
          <a:solidFill>
            <a:srgbClr val="0280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16382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Date, environnement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493008"/>
            <a:ext cx="5852160" cy="384048"/>
          </a:xfrm>
          <a:prstGeom prst="rect">
            <a:avLst/>
          </a:prstGeom>
          <a:solidFill>
            <a:srgbClr val="F5A6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3493008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question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877056"/>
            <a:ext cx="5852160" cy="1143000"/>
          </a:xfrm>
          <a:prstGeom prst="rect">
            <a:avLst/>
          </a:prstGeom>
          <a:solidFill>
            <a:srgbClr val="EAF0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877056"/>
            <a:ext cx="548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+ résultats d'outils (grossit à chaque tour)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92240" y="1371600"/>
            <a:ext cx="146304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préfixe stable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92240" y="3877056"/>
            <a:ext cx="1463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0" y="1371600"/>
            <a:ext cx="3639312" cy="1828800"/>
          </a:xfrm>
          <a:prstGeom prst="roundRect">
            <a:avLst>
              <a:gd name="adj" fmla="val 6000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001000" y="1536192"/>
            <a:ext cx="36393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~10 000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229600" y="2432304"/>
            <a:ext cx="3182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envoyés avant même votre question (1er tour, mesuré)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8001000" y="3383280"/>
            <a:ext cx="3639312" cy="1645920"/>
          </a:xfrm>
          <a:prstGeom prst="roundRect">
            <a:avLst>
              <a:gd name="adj" fmla="val 666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01000" y="3547872"/>
            <a:ext cx="3639312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~3 800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29600" y="4337914"/>
            <a:ext cx="3182112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 rien que pour la liste des 49 skills de ce repo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48640" y="53492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3492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ligne d'AGENTS.md, chaque skill installée, chaque outil MCP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 payé à chaque tour.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base locale d'OpenCode v2.0.21 (tokens.input au 1er tour : 9 492 – 9 653 dans ce repo ; skill-guidance 15 203 caractères ≈ 3 800 tokens, estimation 4 car./token).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tool calling, c'est du texte et un parser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309360" cy="4846320"/>
          </a:xfrm>
          <a:prstGeom prst="roundRect">
            <a:avLst>
              <a:gd name="adj" fmla="val 1509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5852160" cy="455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&lt;|im_start|&gt;system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Tools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&lt;tools&gt;{"name": "read", "parameters": …}&lt;/tools&gt;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…You are an AI agent running in OpenCode…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Corrige le test qui échoue dans calc.py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&lt;|im_start|&gt;assistant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&lt;think&gt;Je dois d'abord lire calc.py.&lt;/think&gt;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&lt;function=read&gt;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&lt;parameter=path&gt;calc.py&lt;/parameter&gt;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&lt;/function&gt;&lt;/tool_call&gt;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&lt;|im_start|&gt;user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&lt;tool_response&gt;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    return a - b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&lt;/tool_response&gt;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178040" y="13716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/>
          <p:nvPr/>
        </p:nvSpPr>
        <p:spPr>
          <a:xfrm>
            <a:off x="717804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699248" y="13350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envoie tools (schémas JSON)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178040" y="192024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/>
          <p:nvPr/>
        </p:nvSpPr>
        <p:spPr>
          <a:xfrm>
            <a:off x="7178040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99248" y="188366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template les écrit dans le prompt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178040" y="246888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040" y="2468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99248" y="243230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génère &lt;tool_call&gt;…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178040" y="3017520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699248" y="298094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 parse → tool_calls JSON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78040" y="356616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/>
          <p:nvPr/>
        </p:nvSpPr>
        <p:spPr>
          <a:xfrm>
            <a:off x="71780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harnais exécute l'outil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178040" y="4114800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/>
          <p:nvPr/>
        </p:nvSpPr>
        <p:spPr>
          <a:xfrm>
            <a:off x="7178040" y="4114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699248" y="4078224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résultat revient en &lt;tool_response&gt;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178040" y="4754880"/>
            <a:ext cx="4462272" cy="1417320"/>
          </a:xfrm>
          <a:prstGeom prst="roundRect">
            <a:avLst>
              <a:gd name="adj" fmla="val 774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452360" y="4983480"/>
            <a:ext cx="39136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Grammaire « lazy » : dès &lt;tool_call&gt;, la sortie est contrainte au schéma.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inconnu → mode Generic, moins fiable.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Rendu réel du chat_template.jinja de Qwen3.8-Flash-Next (extraits) · llama.cpp docs/function-calling.md, common/chat.cpp (parser Qwen3-Coder, grammaire lazy).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boucle — et quand elle s'arrête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2011680"/>
            <a:ext cx="2194560" cy="914400"/>
          </a:xfrm>
          <a:prstGeom prst="roundRect">
            <a:avLst>
              <a:gd name="adj" fmla="val 10000"/>
            </a:avLst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: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rends les tests verts »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889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291840" y="2011680"/>
            <a:ext cx="1463040" cy="914400"/>
          </a:xfrm>
          <a:prstGeom prst="roundRect">
            <a:avLst>
              <a:gd name="adj" fmla="val 10000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91840" y="2011680"/>
            <a:ext cx="1463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80060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303520" y="2011680"/>
            <a:ext cx="155448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0280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03520" y="2011680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tool_call 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90372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858000" y="21031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406640" y="2011680"/>
            <a:ext cx="1828800" cy="914400"/>
          </a:xfrm>
          <a:prstGeom prst="roundRect">
            <a:avLst>
              <a:gd name="adj" fmla="val 10000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0" y="20116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· ask · deny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281160" y="2468880"/>
            <a:ext cx="4572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84080" y="2011680"/>
            <a:ext cx="1856232" cy="914400"/>
          </a:xfrm>
          <a:prstGeom prst="roundRect">
            <a:avLst>
              <a:gd name="adj" fmla="val 100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784080" y="2011680"/>
            <a:ext cx="18562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· shell · edit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69848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3360" y="3657600"/>
            <a:ext cx="667512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023360" y="2971800"/>
            <a:ext cx="0" cy="68580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4846320" y="37033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ajouté à l'historique (tronqué), puis on renvoie tout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 flipV="1">
            <a:off x="6080760" y="1417320"/>
            <a:ext cx="0" cy="54864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6263640" y="1234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→ réponse finale, la boucle s'arrête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343400"/>
            <a:ext cx="3291840" cy="1783080"/>
          </a:xfrm>
          <a:prstGeom prst="roundRect">
            <a:avLst>
              <a:gd name="adj" fmla="val 6154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48640" y="4507992"/>
            <a:ext cx="3291840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</a:t>
            </a:r>
            <a:endParaRPr lang="en-US" sz="4400" dirty="0"/>
          </a:p>
        </p:txBody>
      </p:sp>
      <p:sp>
        <p:nvSpPr>
          <p:cNvPr id="26" name="Text 24"/>
          <p:cNvSpPr/>
          <p:nvPr/>
        </p:nvSpPr>
        <p:spPr>
          <a:xfrm>
            <a:off x="777240" y="5377586"/>
            <a:ext cx="2834640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d'outils par réponse (855 tool-calls / 101 stop, mesuré)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069080" y="4343400"/>
            <a:ext cx="7571232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343400" y="4572000"/>
            <a:ext cx="702259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savoir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Elle s'arrête quand le modèle répond sans appel d'outil — pas de limite d'étapes par défaut.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modèle qui rate ses appels d'outils tourne en rond ou s'arrête trop tôt : c'est un critère de choix.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boucle n'est pas dans le modèle : c'est le harnais qui la fait tourner.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source OpenCode v2.0.21 (fin de boucle, champ steps optionnel) · mesuré : finish_reason des réponses dans la base locale d'OpenCode.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KV cache, deuxième acte : le cache de prompt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début du prompt est identique d'un tour à l'autre : llama-server garde son KV cache et ne calcule que la fin.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94,6 %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77240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tokens de prompt servis par le cache du serveur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34256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1B2437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34256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s → 1 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62856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le 1er mot : 1er tour d'une session vs tours suivants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19872" y="1965960"/>
            <a:ext cx="3520440" cy="2011680"/>
          </a:xfrm>
          <a:prstGeom prst="roundRect">
            <a:avLst>
              <a:gd name="adj" fmla="val 5455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19872" y="2130552"/>
            <a:ext cx="3520440" cy="10460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min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8348472" y="3132734"/>
            <a:ext cx="3063240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prefill au lieu de ~81 min sans le cache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22960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laptop CPU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~10 000 tokens à ~100 t/s de prefill = ~100 s avant le 1er mot, à chaque nouvelle session.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D'où le serveur : le chat tient sur un laptop, l'agent veut une machine rapide.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45352" y="4206240"/>
            <a:ext cx="5394960" cy="1783080"/>
          </a:xfrm>
          <a:prstGeom prst="roundRect">
            <a:avLst>
              <a:gd name="adj" fmla="val 6154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19672" y="443484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touchez pas au début du prompt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 ordonne ses blocs du plus stable au plus variable, exprès.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Ajouter un serveur MCP en cours de session invalide tout le cache.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Mesuré : /metrics du serveur (prompt_tokens_cached_total / total, prompt_seconds_total) · sessions OpenCode (TTFT) · laptop llama-bench pp512.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Brancher OpenCode : une base URL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6492240" cy="4754880"/>
          </a:xfrm>
          <a:prstGeom prst="roundRect">
            <a:avLst>
              <a:gd name="adj" fmla="val 153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472184"/>
            <a:ext cx="6035040" cy="4462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"providers":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"llama.cpp":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"package": "aisdk:@ai-sdk/openai-compatible",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"settings":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"baseURL": "http://192.168.0.110:8080/v1"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"models":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"Qwen3.8-Flash-Next": {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"capabilities": { "tools": true, … },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"limit": { "context": 262144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60920" y="1417320"/>
            <a:ext cx="1737360" cy="1005840"/>
          </a:xfrm>
          <a:prstGeom prst="roundRect">
            <a:avLst>
              <a:gd name="adj" fmla="val 9091"/>
            </a:avLst>
          </a:prstGeom>
          <a:solidFill>
            <a:srgbClr val="EAF0F6"/>
          </a:solidFill>
          <a:ln w="12700">
            <a:solidFill>
              <a:srgbClr val="EAF0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60920" y="1417320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OpenCode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9144000" y="1920240"/>
            <a:ext cx="68580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875520" y="1417320"/>
            <a:ext cx="1764792" cy="1005840"/>
          </a:xfrm>
          <a:prstGeom prst="roundRect">
            <a:avLst>
              <a:gd name="adj" fmla="val 9091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0" y="1417320"/>
            <a:ext cx="1764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llama-server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192.168.0.110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60920" y="2514600"/>
            <a:ext cx="427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compatible OpenAI, sur le LAN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60920" y="3017520"/>
            <a:ext cx="4279392" cy="3063240"/>
          </a:xfrm>
          <a:prstGeom prst="roundRect">
            <a:avLst>
              <a:gd name="adj" fmla="val 3582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635240" y="3246120"/>
            <a:ext cx="37307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points d'attention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capabilities.tools : sinon le modèle n'a pas d'outils.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limit.context : la vraie fenêtre, pour la compaction.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de vie : curl …/v1/models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et le harnais ne se connaissent que par cette URL.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~/.config/opencode/opencode.jsonc (extrait, syntaxe OpenCode v2 : providers / package / settings — la doc v1 dit provider / npm / options).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OpenCode corrige un bug, 100 % local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constat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python3 -m unittest dans demo/ : 9 tests, 3 rouges. Un bug de facturation. Je ne dis pas où.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L'agent travaille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→ shell → read → edit → shell. Et le log du serveur montre le cache au travail.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diff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valeur change. « Il n'a pas deviné : il a mesuré. »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1920240"/>
          </a:xfrm>
          <a:prstGeom prst="roundRect">
            <a:avLst>
              <a:gd name="adj" fmla="val 381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-s 192.168.0.110:8080/metrics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prompt_tokens_total          239 162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prompt_tokens_cached_total 4 212 240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predicted_tokens_seconds        35.9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09360" y="47548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 M tokens de prompt servis par ce serveur pendant la préparation du talk, </a:t>
            </a:r>
            <a:pPr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94,6 % depuis le cache. Rien n'a quitté le LAN.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Étendre l'agent sans coder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AGENTS.md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règles du projet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fichier markdown à la racine, injecté dans chaque requête. Court et précis : chaque ligne est payée à chaque tour.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70832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45152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SKILL.md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45152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Savoir-faire à la demande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45152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Divulgation progressive : nom + description au départ, le corps quand la tâche s'y prête, les fichiers annexes ensuite.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93024" y="1371600"/>
            <a:ext cx="3520440" cy="3566160"/>
          </a:xfrm>
          <a:prstGeom prst="roundRect">
            <a:avLst>
              <a:gd name="adj" fmla="val 3117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67344" y="1645920"/>
            <a:ext cx="2971800" cy="548640"/>
          </a:xfrm>
          <a:prstGeom prst="roundRect">
            <a:avLst>
              <a:gd name="adj" fmla="val 16667"/>
            </a:avLst>
          </a:prstGeom>
          <a:solidFill>
            <a:srgbClr val="1B2437"/>
          </a:solidFill>
          <a:ln w="12700">
            <a:solidFill>
              <a:srgbClr val="1B243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67344" y="16459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467344" y="237744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 outils externes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67344" y="2880360"/>
            <a:ext cx="2971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protocole client/serveur : tickets, base de données, navigateur… OpenCode v2 les expose via un catalogue texte + un outil execute.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1B2437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5212080"/>
            <a:ext cx="10469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extension a un coût en contexte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« progressives », 49 descriptions de skills pèsent ~3 800 tokens à chaque session.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agents.md · agentskills.io · spec MCP (révision 2026-07-28) · docs et code OpenCode v2.0.21 (Code Mode, skill-guidance).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777240"/>
            <a:ext cx="1234440" cy="475488"/>
          </a:xfrm>
          <a:prstGeom prst="roundRect">
            <a:avLst>
              <a:gd name="adj" fmla="val 50000"/>
            </a:avLst>
          </a:prstGeom>
          <a:solidFill>
            <a:srgbClr val="F5A62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777240"/>
            <a:ext cx="1234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Écrire une skill en direct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822960" y="269748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97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266090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dossier, un fichier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308152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.opencode/skills/explain-file/SKILL.md, frontmatter name + description.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79476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94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37581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consignes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371600" y="417880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Rôle · Structure · Subtilités · Limites. Quinze lignes en tout.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4892040"/>
            <a:ext cx="402336" cy="402336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8920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85546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L'invocation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371600" y="527608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explique demo/pricing.py » : l'agent voit la skill, la charge, l'applique.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309360" y="2697480"/>
            <a:ext cx="5120640" cy="2926080"/>
          </a:xfrm>
          <a:prstGeom prst="roundRect">
            <a:avLst>
              <a:gd name="adj" fmla="val 2500"/>
            </a:avLst>
          </a:prstGeom>
          <a:solidFill>
            <a:srgbClr val="101828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2843784"/>
            <a:ext cx="4663440" cy="2633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name: explain-file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description: Explique un fichier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 code (rôle,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subtilités, limites)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Lis le fichier en entier.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Rends : Rôle, Structure,</a:t>
            </a:r>
            <a:endParaRPr lang="en-US" sz="13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Subtilités, Limites.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240280" y="603504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603504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291840" y="629107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65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ACTE 3 · EXPLORER</a:t>
            </a:r>
            <a:endParaRPr lang="en-US" sz="15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822960" y="25146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paysage, automne 2026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82296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Exécuter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40280" y="4297680"/>
            <a:ext cx="201168" cy="201168"/>
          </a:xfrm>
          <a:prstGeom prst="ellipse">
            <a:avLst/>
          </a:prstGeom>
          <a:solidFill>
            <a:srgbClr val="1B2437"/>
          </a:solidFill>
          <a:ln w="15875">
            <a:solidFill>
              <a:srgbClr val="9FB0C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7452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0" y="4297680"/>
            <a:ext cx="201168" cy="201168"/>
          </a:xfrm>
          <a:prstGeom prst="ellipse">
            <a:avLst/>
          </a:prstGeom>
          <a:solidFill>
            <a:srgbClr val="02C39A"/>
          </a:solidFill>
          <a:ln w="15875">
            <a:solidFill>
              <a:srgbClr val="02C39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0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Open-weights : l'écart s'est fermé… sur les tâches courtes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40080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223760" y="1325880"/>
            <a:ext cx="441655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498080" y="1554480"/>
            <a:ext cx="386791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qu'il faut retenir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partout : 1,5 à 6 B actifs pour 8 à 180 B et plus au total.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hybride, contexte de 256 k à 1 M, modèles livrés quantifiés.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open-weights de tête pèsent 300 B à 2,8 T : pas sur un laptop.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de la démo revendique 62,5 sur SWE-bench Pro : revendication de l'éditeur.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SWE-bench Verified est saturé ;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tâches longues en terminal, l'écart reste réel.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indépendantes, consultées le 05/10/2026 : swebench.com, Vals.ai (Terminal-Bench 4.0), Artificial Analysis · model card Qwen3.8-Flash-Next (revendication).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Matériel : lisez la bande passante, pas les TOPS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589520" y="132588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7863840" y="1554480"/>
            <a:ext cx="350215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Lire le graphique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acte 1 : tok/s ≈ bande passante ÷ poids actifs.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Repère officiel llama.cpp : gpt-oss-120b sur DGX Spark → 59 t/s à vide, 43 t/s à 32 k de contexte.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RTX 5090 est la plus rapide, mais 32 Go seulement : les gros MoE n'y tiennent pas.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DRAM est chère en 2026 (TrendForce : +10 à 18 % par trimestre).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1B2437"/>
          </a:solidFill>
          <a:ln/>
        </p:spPr>
      </p:sp>
      <p:sp>
        <p:nvSpPr>
          <p:cNvPr id="7" name="Text 4"/>
          <p:cNvSpPr/>
          <p:nvPr/>
        </p:nvSpPr>
        <p:spPr>
          <a:xfrm>
            <a:off x="868680" y="544068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 agent local : </a:t>
            </a:r>
            <a:pPr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beaucoup de mémoire (≥ 128 Go) et de la bande passante, plutôt que de la puissance de calcul.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6382512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: Apple Newsroom (08/2026), NVIDIA, llama.cpp benches/dgx-spark, Soothill (Strix Halo, 08/2026), TrendForce (09/2026) · laptop : mesure du 05/10/2026.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Bilan confidentiel — l'inventaire de la journée :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22960" y="210312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RIEN.</a:t>
            </a:r>
            <a:endParaRPr lang="en-US" sz="12000" dirty="0"/>
          </a:p>
        </p:txBody>
      </p:sp>
      <p:sp>
        <p:nvSpPr>
          <p:cNvPr id="4" name="Text 2"/>
          <p:cNvSpPr/>
          <p:nvPr/>
        </p:nvSpPr>
        <p:spPr>
          <a:xfrm>
            <a:off x="822960" y="45720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prompts, le code de la démo, les tests, la skill, les correctifs de l'agent 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est resté sur les machines de cette salle.</a:t>
            </a:r>
            <a:endParaRPr lang="en-US" sz="2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47472"/>
            <a:ext cx="110916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B24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Chez vous ce soir — trois commandes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949440" cy="2103120"/>
          </a:xfrm>
          <a:prstGeom prst="roundRect">
            <a:avLst>
              <a:gd name="adj" fmla="val 3478"/>
            </a:avLst>
          </a:prstGeom>
          <a:solidFill>
            <a:srgbClr val="101828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517904"/>
            <a:ext cx="6492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git clone &lt;le repo de cette présentation&gt;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build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E6F1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run --rm llama bash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hf download &lt;modèle&gt; --local-dir /models/&lt;modèle&gt;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A9B7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# llama-server -m /models/&lt;modèle&gt;/&lt;fichier&gt;.gguf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3703320"/>
            <a:ext cx="6949440" cy="1280160"/>
          </a:xfrm>
          <a:prstGeom prst="roundRect">
            <a:avLst>
              <a:gd name="adj" fmla="val 8571"/>
            </a:avLst>
          </a:prstGeom>
          <a:solidFill>
            <a:srgbClr val="EAF0F6"/>
          </a:solidFill>
          <a:ln/>
          <a:effectLst>
            <a:outerShdw sx="100000" sy="100000" kx="0" ky="0" algn="bl" rotWithShape="0" blurRad="76200" dist="25400" dir="5400000">
              <a:srgbClr val="8A97AC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3931920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B24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repo contient tout : conteneur llama.cpp, démo avec son bug, skill explain-file, config OpenCode, notes de recherche et mesures.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138160" y="1463040"/>
            <a:ext cx="329184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9050">
            <a:solidFill>
              <a:srgbClr val="1B2437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8321040" y="1691640"/>
            <a:ext cx="29260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→ repo public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github.com/&lt;vous&gt;/llama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(à générer avant le jour J)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31168" y="6455664"/>
            <a:ext cx="3200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A6B8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aux questions — et si le serveur tient, à une démo improvisée.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: github.com/&lt;vous&gt;/llama · licence MIT · tout est rejouable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 Terminal">
  <a:themeElements>
    <a:clrScheme name="Local Terminal">
      <a:dk1>
        <a:srgbClr val="1B2437"/>
      </a:dk1>
      <a:lt1>
        <a:srgbClr val="FFFFFF"/>
      </a:lt1>
      <a:dk2>
        <a:srgbClr val="5A6B85"/>
      </a:dk2>
      <a:lt2>
        <a:srgbClr val="EAF0F6"/>
      </a:lt2>
      <a:accent1>
        <a:srgbClr val="02C39A"/>
      </a:accent1>
      <a:accent2>
        <a:srgbClr val="028090"/>
      </a:accent2>
      <a:accent3>
        <a:srgbClr val="F5A623"/>
      </a:accent3>
      <a:accent4>
        <a:srgbClr val="1E2761"/>
      </a:accent4>
      <a:accent5>
        <a:srgbClr val="94A7BF"/>
      </a:accent5>
      <a:accent6>
        <a:srgbClr val="BFEFE3"/>
      </a:accent6>
      <a:hlink>
        <a:srgbClr val="028090"/>
      </a:hlink>
      <a:folHlink>
        <a:srgbClr val="5A6B85"/>
      </a:folHlink>
    </a:clrScheme>
    <a:fontScheme name="Local Terminal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llama-local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développement agentique — tout ça tourne chez vous</dc:title>
  <dc:subject>PptxGenJS Presentation</dc:subject>
  <dc:creator>m-max</dc:creator>
  <cp:lastModifiedBy>m-max</cp:lastModifiedBy>
  <cp:revision>1</cp:revision>
  <dcterms:created xsi:type="dcterms:W3CDTF">2026-10-05T15:46:12Z</dcterms:created>
  <dcterms:modified xsi:type="dcterms:W3CDTF">2026-10-05T15:46:12Z</dcterms:modified>
</cp:coreProperties>
</file>